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4"/>
  </p:notesMasterIdLst>
  <p:sldIdLst>
    <p:sldId id="530" r:id="rId5"/>
    <p:sldId id="533" r:id="rId6"/>
    <p:sldId id="534" r:id="rId7"/>
    <p:sldId id="535" r:id="rId8"/>
    <p:sldId id="537" r:id="rId9"/>
    <p:sldId id="538" r:id="rId10"/>
    <p:sldId id="545" r:id="rId11"/>
    <p:sldId id="536" r:id="rId12"/>
    <p:sldId id="547" r:id="rId13"/>
    <p:sldId id="548" r:id="rId14"/>
    <p:sldId id="549" r:id="rId15"/>
    <p:sldId id="550" r:id="rId16"/>
    <p:sldId id="551" r:id="rId17"/>
    <p:sldId id="552" r:id="rId18"/>
    <p:sldId id="553" r:id="rId19"/>
    <p:sldId id="554" r:id="rId20"/>
    <p:sldId id="555" r:id="rId21"/>
    <p:sldId id="556" r:id="rId22"/>
    <p:sldId id="54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822EE"/>
    <a:srgbClr val="F01688"/>
    <a:srgbClr val="2F21F3"/>
    <a:srgbClr val="FEB52B"/>
    <a:srgbClr val="F01689"/>
    <a:srgbClr val="6F22E3"/>
    <a:srgbClr val="E218A3"/>
    <a:srgbClr val="BA20DB"/>
    <a:srgbClr val="6A23F1"/>
    <a:srgbClr val="2F22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0" autoAdjust="0"/>
    <p:restoredTop sz="94422"/>
  </p:normalViewPr>
  <p:slideViewPr>
    <p:cSldViewPr snapToGrid="0">
      <p:cViewPr varScale="1">
        <p:scale>
          <a:sx n="87" d="100"/>
          <a:sy n="87" d="100"/>
        </p:scale>
        <p:origin x="368"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00BCFC-AFFD-334C-A183-6116BAFDF92B}" type="datetimeFigureOut">
              <a:rPr lang="en-US" smtClean="0"/>
              <a:t>11/14/2025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C058E0-0852-DB43-83D6-BD76659FF1D8}" type="slidenum">
              <a:rPr lang="en-US" smtClean="0"/>
              <a:t>‹#›</a:t>
            </a:fld>
            <a:endParaRPr lang="en-US" dirty="0"/>
          </a:p>
        </p:txBody>
      </p:sp>
    </p:spTree>
    <p:extLst>
      <p:ext uri="{BB962C8B-B14F-4D97-AF65-F5344CB8AC3E}">
        <p14:creationId xmlns:p14="http://schemas.microsoft.com/office/powerpoint/2010/main" val="1519306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3C058E0-0852-DB43-83D6-BD76659FF1D8}" type="slidenum">
              <a:rPr lang="en-US" smtClean="0"/>
              <a:t>3</a:t>
            </a:fld>
            <a:endParaRPr lang="en-US" dirty="0"/>
          </a:p>
        </p:txBody>
      </p:sp>
    </p:spTree>
    <p:extLst>
      <p:ext uri="{BB962C8B-B14F-4D97-AF65-F5344CB8AC3E}">
        <p14:creationId xmlns:p14="http://schemas.microsoft.com/office/powerpoint/2010/main" val="33439304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3C058E0-0852-DB43-83D6-BD76659FF1D8}" type="slidenum">
              <a:rPr lang="en-US" smtClean="0"/>
              <a:t>4</a:t>
            </a:fld>
            <a:endParaRPr lang="en-US" dirty="0"/>
          </a:p>
        </p:txBody>
      </p:sp>
    </p:spTree>
    <p:extLst>
      <p:ext uri="{BB962C8B-B14F-4D97-AF65-F5344CB8AC3E}">
        <p14:creationId xmlns:p14="http://schemas.microsoft.com/office/powerpoint/2010/main" val="41445171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3C058E0-0852-DB43-83D6-BD76659FF1D8}" type="slidenum">
              <a:rPr lang="en-US" smtClean="0"/>
              <a:t>9</a:t>
            </a:fld>
            <a:endParaRPr lang="en-US" dirty="0"/>
          </a:p>
        </p:txBody>
      </p:sp>
    </p:spTree>
    <p:extLst>
      <p:ext uri="{BB962C8B-B14F-4D97-AF65-F5344CB8AC3E}">
        <p14:creationId xmlns:p14="http://schemas.microsoft.com/office/powerpoint/2010/main" val="40051932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3C058E0-0852-DB43-83D6-BD76659FF1D8}" type="slidenum">
              <a:rPr lang="en-US" smtClean="0"/>
              <a:t>10</a:t>
            </a:fld>
            <a:endParaRPr lang="en-US" dirty="0"/>
          </a:p>
        </p:txBody>
      </p:sp>
    </p:spTree>
    <p:extLst>
      <p:ext uri="{BB962C8B-B14F-4D97-AF65-F5344CB8AC3E}">
        <p14:creationId xmlns:p14="http://schemas.microsoft.com/office/powerpoint/2010/main" val="438931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F51FEA09-E4BD-0741-D624-EED4A231C599}"/>
              </a:ext>
            </a:extLst>
          </p:cNvPr>
          <p:cNvSpPr/>
          <p:nvPr userDrawn="1"/>
        </p:nvSpPr>
        <p:spPr>
          <a:xfrm rot="10800000">
            <a:off x="853427"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0"/>
                </a:schemeClr>
              </a:gs>
              <a:gs pos="99000">
                <a:schemeClr val="accent3">
                  <a:alpha val="71647"/>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9">
            <a:extLst>
              <a:ext uri="{FF2B5EF4-FFF2-40B4-BE49-F238E27FC236}">
                <a16:creationId xmlns:a16="http://schemas.microsoft.com/office/drawing/2014/main" id="{B707B5BA-AB15-D1EF-EBC5-F38FCE20FC52}"/>
              </a:ext>
            </a:extLst>
          </p:cNvPr>
          <p:cNvSpPr/>
          <p:nvPr userDrawn="1"/>
        </p:nvSpPr>
        <p:spPr>
          <a:xfrm rot="710202" flipV="1">
            <a:off x="-145573" y="4175628"/>
            <a:ext cx="6040006" cy="3240870"/>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97000">
                <a:schemeClr val="accent3">
                  <a:lumMod val="50000"/>
                  <a:alpha val="21210"/>
                </a:schemeClr>
              </a:gs>
              <a:gs pos="72000">
                <a:schemeClr val="accent4">
                  <a:lumMod val="50000"/>
                </a:schemeClr>
              </a:gs>
              <a:gs pos="3000">
                <a:schemeClr val="accent6">
                  <a:alpha val="53787"/>
                </a:schemeClr>
              </a:gs>
            </a:gsLst>
            <a:lin ang="81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cxnSp>
        <p:nvCxnSpPr>
          <p:cNvPr id="6" name="Straight Connector 5">
            <a:extLst>
              <a:ext uri="{FF2B5EF4-FFF2-40B4-BE49-F238E27FC236}">
                <a16:creationId xmlns:a16="http://schemas.microsoft.com/office/drawing/2014/main" id="{21AF73CC-B23B-6DCD-7E3E-8213485DF9B7}"/>
              </a:ext>
            </a:extLst>
          </p:cNvPr>
          <p:cNvCxnSpPr>
            <a:cxnSpLocks/>
          </p:cNvCxnSpPr>
          <p:nvPr userDrawn="1"/>
        </p:nvCxnSpPr>
        <p:spPr>
          <a:xfrm rot="5400000">
            <a:off x="6095999" y="3104925"/>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Freeform 1">
            <a:extLst>
              <a:ext uri="{FF2B5EF4-FFF2-40B4-BE49-F238E27FC236}">
                <a16:creationId xmlns:a16="http://schemas.microsoft.com/office/drawing/2014/main" id="{0319ECD0-7050-C18F-AC35-7F8DFA288A58}"/>
              </a:ext>
            </a:extLst>
          </p:cNvPr>
          <p:cNvSpPr/>
          <p:nvPr userDrawn="1"/>
        </p:nvSpPr>
        <p:spPr>
          <a:xfrm>
            <a:off x="-24334" y="1"/>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1">
                  <a:alpha val="31889"/>
                </a:schemeClr>
              </a:gs>
              <a:gs pos="77000">
                <a:schemeClr val="accent3">
                  <a:lumMod val="25000"/>
                  <a:alpha val="0"/>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3">
            <a:extLst>
              <a:ext uri="{FF2B5EF4-FFF2-40B4-BE49-F238E27FC236}">
                <a16:creationId xmlns:a16="http://schemas.microsoft.com/office/drawing/2014/main" id="{332954FC-1C1B-B277-413F-3CBA66FD1EAD}"/>
              </a:ext>
            </a:extLst>
          </p:cNvPr>
          <p:cNvSpPr/>
          <p:nvPr userDrawn="1"/>
        </p:nvSpPr>
        <p:spPr>
          <a:xfrm flipH="1" flipV="1">
            <a:off x="-26982" y="9939"/>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50000"/>
                </a:schemeClr>
              </a:gs>
              <a:gs pos="77000">
                <a:schemeClr val="accent3">
                  <a:lumMod val="25000"/>
                  <a:alpha val="0"/>
                </a:schemeClr>
              </a:gs>
            </a:gsLst>
            <a:path path="circle">
              <a:fillToRect t="100000" r="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4">
            <a:extLst>
              <a:ext uri="{FF2B5EF4-FFF2-40B4-BE49-F238E27FC236}">
                <a16:creationId xmlns:a16="http://schemas.microsoft.com/office/drawing/2014/main" id="{9AD65933-4DAE-2A46-C7F9-2A20CB244088}"/>
              </a:ext>
            </a:extLst>
          </p:cNvPr>
          <p:cNvSpPr/>
          <p:nvPr userDrawn="1"/>
        </p:nvSpPr>
        <p:spPr>
          <a:xfrm>
            <a:off x="4603793" y="0"/>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41000">
                <a:schemeClr val="accent5">
                  <a:alpha val="21000"/>
                </a:schemeClr>
              </a:gs>
              <a:gs pos="98000">
                <a:schemeClr val="accent5">
                  <a:lumMod val="50000"/>
                </a:schemeClr>
              </a:gs>
            </a:gsLst>
            <a:lin ang="13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5">
            <a:extLst>
              <a:ext uri="{FF2B5EF4-FFF2-40B4-BE49-F238E27FC236}">
                <a16:creationId xmlns:a16="http://schemas.microsoft.com/office/drawing/2014/main" id="{078C0FDD-401B-0E80-5823-215C99BAE6B2}"/>
              </a:ext>
            </a:extLst>
          </p:cNvPr>
          <p:cNvSpPr/>
          <p:nvPr userDrawn="1"/>
        </p:nvSpPr>
        <p:spPr>
          <a:xfrm rot="710202" flipH="1">
            <a:off x="6511239" y="-551340"/>
            <a:ext cx="5838132" cy="3132551"/>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100000">
                <a:schemeClr val="accent4">
                  <a:lumMod val="75000"/>
                  <a:alpha val="19000"/>
                </a:schemeClr>
              </a:gs>
              <a:gs pos="0">
                <a:schemeClr val="accent6">
                  <a:alpha val="61994"/>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243584" y="2176272"/>
            <a:ext cx="9921240" cy="1481328"/>
          </a:xfrm>
        </p:spPr>
        <p:txBody>
          <a:bodyPr anchor="b">
            <a:no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560320" y="4261104"/>
            <a:ext cx="7068312" cy="75895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569340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reeform 15">
            <a:extLst>
              <a:ext uri="{FF2B5EF4-FFF2-40B4-BE49-F238E27FC236}">
                <a16:creationId xmlns:a16="http://schemas.microsoft.com/office/drawing/2014/main" id="{079F0D65-9DED-1DC3-6E6D-E4AD5252A007}"/>
              </a:ext>
            </a:extLst>
          </p:cNvPr>
          <p:cNvSpPr/>
          <p:nvPr userDrawn="1"/>
        </p:nvSpPr>
        <p:spPr>
          <a:xfrm rot="16200000" flipV="1">
            <a:off x="6507450" y="1163358"/>
            <a:ext cx="6858000" cy="4531278"/>
          </a:xfrm>
          <a:custGeom>
            <a:avLst/>
            <a:gdLst>
              <a:gd name="connsiteX0" fmla="*/ 6858000 w 6858000"/>
              <a:gd name="connsiteY0" fmla="*/ 3150313 h 3750964"/>
              <a:gd name="connsiteX1" fmla="*/ 6858000 w 6858000"/>
              <a:gd name="connsiteY1" fmla="*/ 0 h 3750964"/>
              <a:gd name="connsiteX2" fmla="*/ 0 w 6858000"/>
              <a:gd name="connsiteY2" fmla="*/ 0 h 3750964"/>
              <a:gd name="connsiteX3" fmla="*/ 0 w 6858000"/>
              <a:gd name="connsiteY3" fmla="*/ 3220894 h 3750964"/>
              <a:gd name="connsiteX4" fmla="*/ 10973 w 6858000"/>
              <a:gd name="connsiteY4" fmla="*/ 3230398 h 3750964"/>
              <a:gd name="connsiteX5" fmla="*/ 1661251 w 6858000"/>
              <a:gd name="connsiteY5" fmla="*/ 3750927 h 3750964"/>
              <a:gd name="connsiteX6" fmla="*/ 4893397 w 6858000"/>
              <a:gd name="connsiteY6" fmla="*/ 2661368 h 3750964"/>
              <a:gd name="connsiteX7" fmla="*/ 6834019 w 6858000"/>
              <a:gd name="connsiteY7" fmla="*/ 3137932 h 3750964"/>
              <a:gd name="connsiteX8" fmla="*/ 6858000 w 6858000"/>
              <a:gd name="connsiteY8" fmla="*/ 3150313 h 3750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3750964">
                <a:moveTo>
                  <a:pt x="6858000" y="3150313"/>
                </a:moveTo>
                <a:lnTo>
                  <a:pt x="6858000" y="0"/>
                </a:lnTo>
                <a:lnTo>
                  <a:pt x="0" y="0"/>
                </a:lnTo>
                <a:lnTo>
                  <a:pt x="0" y="3220894"/>
                </a:lnTo>
                <a:lnTo>
                  <a:pt x="10973" y="3230398"/>
                </a:lnTo>
                <a:cubicBezTo>
                  <a:pt x="366756" y="3514112"/>
                  <a:pt x="933081" y="3754395"/>
                  <a:pt x="1661251" y="3750927"/>
                </a:cubicBezTo>
                <a:cubicBezTo>
                  <a:pt x="2955776" y="3744762"/>
                  <a:pt x="3514049" y="2682714"/>
                  <a:pt x="4893397" y="2661368"/>
                </a:cubicBezTo>
                <a:cubicBezTo>
                  <a:pt x="5755490" y="2648026"/>
                  <a:pt x="6380835" y="2908605"/>
                  <a:pt x="6834019" y="3137932"/>
                </a:cubicBezTo>
                <a:lnTo>
                  <a:pt x="6858000" y="3150313"/>
                </a:lnTo>
                <a:close/>
              </a:path>
            </a:pathLst>
          </a:custGeom>
          <a:solidFill>
            <a:schemeClr val="accent4">
              <a:alpha val="142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18">
            <a:extLst>
              <a:ext uri="{FF2B5EF4-FFF2-40B4-BE49-F238E27FC236}">
                <a16:creationId xmlns:a16="http://schemas.microsoft.com/office/drawing/2014/main" id="{9C605622-8F1F-632F-D5C0-1F2E7875EBA1}"/>
              </a:ext>
            </a:extLst>
          </p:cNvPr>
          <p:cNvSpPr/>
          <p:nvPr userDrawn="1"/>
        </p:nvSpPr>
        <p:spPr>
          <a:xfrm rot="5400000">
            <a:off x="6488397" y="1182411"/>
            <a:ext cx="6858000" cy="4493171"/>
          </a:xfrm>
          <a:custGeom>
            <a:avLst/>
            <a:gdLst>
              <a:gd name="connsiteX0" fmla="*/ 0 w 6858000"/>
              <a:gd name="connsiteY0" fmla="*/ 3300688 h 4744323"/>
              <a:gd name="connsiteX1" fmla="*/ 0 w 6858000"/>
              <a:gd name="connsiteY1" fmla="*/ 0 h 4744323"/>
              <a:gd name="connsiteX2" fmla="*/ 6858000 w 6858000"/>
              <a:gd name="connsiteY2" fmla="*/ 0 h 4744323"/>
              <a:gd name="connsiteX3" fmla="*/ 6858000 w 6858000"/>
              <a:gd name="connsiteY3" fmla="*/ 3130282 h 4744323"/>
              <a:gd name="connsiteX4" fmla="*/ 6685009 w 6858000"/>
              <a:gd name="connsiteY4" fmla="*/ 3177721 h 4744323"/>
              <a:gd name="connsiteX5" fmla="*/ 2944852 w 6858000"/>
              <a:gd name="connsiteY5" fmla="*/ 4744264 h 4744323"/>
              <a:gd name="connsiteX6" fmla="*/ 88593 w 6858000"/>
              <a:gd name="connsiteY6" fmla="*/ 3449517 h 4744323"/>
              <a:gd name="connsiteX7" fmla="*/ 0 w 6858000"/>
              <a:gd name="connsiteY7" fmla="*/ 3300688 h 474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744323">
                <a:moveTo>
                  <a:pt x="0" y="3300688"/>
                </a:moveTo>
                <a:lnTo>
                  <a:pt x="0" y="0"/>
                </a:lnTo>
                <a:lnTo>
                  <a:pt x="6858000" y="0"/>
                </a:lnTo>
                <a:lnTo>
                  <a:pt x="6858000" y="3130282"/>
                </a:lnTo>
                <a:lnTo>
                  <a:pt x="6685009" y="3177721"/>
                </a:lnTo>
                <a:cubicBezTo>
                  <a:pt x="5333681" y="3615865"/>
                  <a:pt x="4498161" y="4736270"/>
                  <a:pt x="2944852" y="4744264"/>
                </a:cubicBezTo>
                <a:cubicBezTo>
                  <a:pt x="1511029" y="4751644"/>
                  <a:pt x="502120" y="4067469"/>
                  <a:pt x="88593" y="3449517"/>
                </a:cubicBezTo>
                <a:lnTo>
                  <a:pt x="0" y="3300688"/>
                </a:lnTo>
                <a:close/>
              </a:path>
            </a:pathLst>
          </a:custGeom>
          <a:gradFill flip="none" rotWithShape="1">
            <a:gsLst>
              <a:gs pos="4000">
                <a:schemeClr val="accent2">
                  <a:alpha val="23589"/>
                </a:schemeClr>
              </a:gs>
              <a:gs pos="79000">
                <a:schemeClr val="accent5">
                  <a:lumMod val="50000"/>
                  <a:alpha val="5218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12">
            <a:extLst>
              <a:ext uri="{FF2B5EF4-FFF2-40B4-BE49-F238E27FC236}">
                <a16:creationId xmlns:a16="http://schemas.microsoft.com/office/drawing/2014/main" id="{919AB4B2-2D3A-FCB5-0314-CC465BCC0E5D}"/>
              </a:ext>
            </a:extLst>
          </p:cNvPr>
          <p:cNvSpPr/>
          <p:nvPr userDrawn="1"/>
        </p:nvSpPr>
        <p:spPr>
          <a:xfrm rot="5400000">
            <a:off x="6926379" y="1582290"/>
            <a:ext cx="6858001" cy="3693421"/>
          </a:xfrm>
          <a:custGeom>
            <a:avLst/>
            <a:gdLst>
              <a:gd name="connsiteX0" fmla="*/ 0 w 6858001"/>
              <a:gd name="connsiteY0" fmla="*/ 3437558 h 3693421"/>
              <a:gd name="connsiteX1" fmla="*/ 0 w 6858001"/>
              <a:gd name="connsiteY1" fmla="*/ 0 h 3693421"/>
              <a:gd name="connsiteX2" fmla="*/ 6858001 w 6858001"/>
              <a:gd name="connsiteY2" fmla="*/ 0 h 3693421"/>
              <a:gd name="connsiteX3" fmla="*/ 6858001 w 6858001"/>
              <a:gd name="connsiteY3" fmla="*/ 1982949 h 3693421"/>
              <a:gd name="connsiteX4" fmla="*/ 6594582 w 6858001"/>
              <a:gd name="connsiteY4" fmla="*/ 1960784 h 3693421"/>
              <a:gd name="connsiteX5" fmla="*/ 6223032 w 6858001"/>
              <a:gd name="connsiteY5" fmla="*/ 1954544 h 3693421"/>
              <a:gd name="connsiteX6" fmla="*/ 1449771 w 6858001"/>
              <a:gd name="connsiteY6" fmla="*/ 3693362 h 3693421"/>
              <a:gd name="connsiteX7" fmla="*/ 163899 w 6858001"/>
              <a:gd name="connsiteY7" fmla="*/ 3498289 h 3693421"/>
              <a:gd name="connsiteX8" fmla="*/ 0 w 6858001"/>
              <a:gd name="connsiteY8" fmla="*/ 3437558 h 3693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1" h="3693421">
                <a:moveTo>
                  <a:pt x="0" y="3437558"/>
                </a:moveTo>
                <a:lnTo>
                  <a:pt x="0" y="0"/>
                </a:lnTo>
                <a:lnTo>
                  <a:pt x="6858001" y="0"/>
                </a:lnTo>
                <a:lnTo>
                  <a:pt x="6858001" y="1982949"/>
                </a:lnTo>
                <a:lnTo>
                  <a:pt x="6594582" y="1960784"/>
                </a:lnTo>
                <a:cubicBezTo>
                  <a:pt x="6474164" y="1954657"/>
                  <a:pt x="6350346" y="1952415"/>
                  <a:pt x="6223032" y="1954544"/>
                </a:cubicBezTo>
                <a:cubicBezTo>
                  <a:pt x="4185999" y="1988612"/>
                  <a:pt x="3361537" y="3683524"/>
                  <a:pt x="1449771" y="3693362"/>
                </a:cubicBezTo>
                <a:cubicBezTo>
                  <a:pt x="971830" y="3695822"/>
                  <a:pt x="541102" y="3621442"/>
                  <a:pt x="163899" y="3498289"/>
                </a:cubicBezTo>
                <a:lnTo>
                  <a:pt x="0" y="3437558"/>
                </a:lnTo>
                <a:close/>
              </a:path>
            </a:pathLst>
          </a:custGeom>
          <a:gradFill>
            <a:gsLst>
              <a:gs pos="84000">
                <a:schemeClr val="accent4">
                  <a:alpha val="20000"/>
                </a:schemeClr>
              </a:gs>
              <a:gs pos="1000">
                <a:schemeClr val="accent6">
                  <a:alpha val="38000"/>
                </a:schemeClr>
              </a:gs>
              <a:gs pos="100000">
                <a:schemeClr val="accent6">
                  <a:alpha val="3349"/>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Slide Number Placeholder 7">
            <a:extLst>
              <a:ext uri="{FF2B5EF4-FFF2-40B4-BE49-F238E27FC236}">
                <a16:creationId xmlns:a16="http://schemas.microsoft.com/office/drawing/2014/main" id="{692257B9-FE58-1976-7115-17E05E5819EA}"/>
              </a:ext>
            </a:extLst>
          </p:cNvPr>
          <p:cNvSpPr>
            <a:spLocks noGrp="1"/>
          </p:cNvSpPr>
          <p:nvPr>
            <p:ph type="sldNum" sz="quarter" idx="11"/>
          </p:nvPr>
        </p:nvSpPr>
        <p:spPr/>
        <p:txBody>
          <a:bodyPr>
            <a:noAutofit/>
          </a:bodyPr>
          <a:lstStyle/>
          <a:p>
            <a:fld id="{294A09A9-5501-47C1-A89A-A340965A2BE2}" type="slidenum">
              <a:rPr lang="en-US" smtClean="0"/>
              <a:pPr/>
              <a:t>‹#›</a:t>
            </a:fld>
            <a:endParaRPr lang="en-US" dirty="0"/>
          </a:p>
        </p:txBody>
      </p:sp>
      <p:sp>
        <p:nvSpPr>
          <p:cNvPr id="7" name="Footer Placeholder 6">
            <a:extLst>
              <a:ext uri="{FF2B5EF4-FFF2-40B4-BE49-F238E27FC236}">
                <a16:creationId xmlns:a16="http://schemas.microsoft.com/office/drawing/2014/main" id="{BAF040BB-6465-852C-B53C-074E90BB09D1}"/>
              </a:ext>
            </a:extLst>
          </p:cNvPr>
          <p:cNvSpPr>
            <a:spLocks noGrp="1"/>
          </p:cNvSpPr>
          <p:nvPr>
            <p:ph type="ftr" sz="quarter" idx="10"/>
          </p:nvPr>
        </p:nvSpPr>
        <p:spPr/>
        <p:txBody>
          <a:bodyPr>
            <a:noAutofit/>
          </a:bodyPr>
          <a:lstStyle/>
          <a:p>
            <a:r>
              <a:rPr lang="en-US"/>
              <a:t>Crypto: investing &amp; trading</a:t>
            </a: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536192" y="832104"/>
            <a:ext cx="8878824" cy="1069848"/>
          </a:xfrm>
        </p:spPr>
        <p:txBody>
          <a:bodyPr anchor="b">
            <a:no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536192" y="2212848"/>
            <a:ext cx="6422136" cy="3282696"/>
          </a:xfrm>
        </p:spPr>
        <p:txBody>
          <a:bodyPr>
            <a:noAutofit/>
          </a:bodyPr>
          <a:lstStyle>
            <a:lvl1pPr marL="347472">
              <a:lnSpc>
                <a:spcPct val="150000"/>
              </a:lnSpc>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63167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Introduction">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9BE68DE5-FB8F-C713-B589-69851789C6C5}"/>
              </a:ext>
            </a:extLst>
          </p:cNvPr>
          <p:cNvSpPr/>
          <p:nvPr userDrawn="1"/>
        </p:nvSpPr>
        <p:spPr>
          <a:xfrm>
            <a:off x="1" y="4852144"/>
            <a:ext cx="5681755" cy="2002200"/>
          </a:xfrm>
          <a:custGeom>
            <a:avLst/>
            <a:gdLst>
              <a:gd name="connsiteX0" fmla="*/ 320629 w 5681755"/>
              <a:gd name="connsiteY0" fmla="*/ 0 h 2002200"/>
              <a:gd name="connsiteX1" fmla="*/ 375829 w 5681755"/>
              <a:gd name="connsiteY1" fmla="*/ 158026 h 2002200"/>
              <a:gd name="connsiteX2" fmla="*/ 897491 w 5681755"/>
              <a:gd name="connsiteY2" fmla="*/ 961690 h 2002200"/>
              <a:gd name="connsiteX3" fmla="*/ 4054478 w 5681755"/>
              <a:gd name="connsiteY3" fmla="*/ 1474149 h 2002200"/>
              <a:gd name="connsiteX4" fmla="*/ 5679398 w 5681755"/>
              <a:gd name="connsiteY4" fmla="*/ 1986034 h 2002200"/>
              <a:gd name="connsiteX5" fmla="*/ 5681755 w 5681755"/>
              <a:gd name="connsiteY5" fmla="*/ 2002200 h 2002200"/>
              <a:gd name="connsiteX6" fmla="*/ 0 w 5681755"/>
              <a:gd name="connsiteY6" fmla="*/ 1989323 h 2002200"/>
              <a:gd name="connsiteX7" fmla="*/ 0 w 5681755"/>
              <a:gd name="connsiteY7" fmla="*/ 1952135 h 200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81755" h="2002200">
                <a:moveTo>
                  <a:pt x="320629" y="0"/>
                </a:moveTo>
                <a:lnTo>
                  <a:pt x="375829" y="158026"/>
                </a:lnTo>
                <a:cubicBezTo>
                  <a:pt x="503741" y="486192"/>
                  <a:pt x="688117" y="753054"/>
                  <a:pt x="897491" y="961690"/>
                </a:cubicBezTo>
                <a:cubicBezTo>
                  <a:pt x="1455821" y="1518049"/>
                  <a:pt x="3033468" y="1694058"/>
                  <a:pt x="4054478" y="1474149"/>
                </a:cubicBezTo>
                <a:cubicBezTo>
                  <a:pt x="5094564" y="1247948"/>
                  <a:pt x="5587838" y="1548928"/>
                  <a:pt x="5679398" y="1986034"/>
                </a:cubicBezTo>
                <a:lnTo>
                  <a:pt x="5681755" y="2002200"/>
                </a:lnTo>
                <a:lnTo>
                  <a:pt x="0" y="1989323"/>
                </a:lnTo>
                <a:lnTo>
                  <a:pt x="0" y="1952135"/>
                </a:lnTo>
                <a:close/>
              </a:path>
            </a:pathLst>
          </a:custGeom>
          <a:gradFill flip="none" rotWithShape="1">
            <a:gsLst>
              <a:gs pos="77000">
                <a:schemeClr val="accent3">
                  <a:lumMod val="25000"/>
                  <a:alpha val="0"/>
                </a:schemeClr>
              </a:gs>
              <a:gs pos="0">
                <a:schemeClr val="tx2">
                  <a:alpha val="70774"/>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22" name="Freeform: Shape 21">
            <a:extLst>
              <a:ext uri="{FF2B5EF4-FFF2-40B4-BE49-F238E27FC236}">
                <a16:creationId xmlns:a16="http://schemas.microsoft.com/office/drawing/2014/main" id="{76B337A9-EA8E-4E30-3CF4-C681F9705934}"/>
              </a:ext>
            </a:extLst>
          </p:cNvPr>
          <p:cNvSpPr/>
          <p:nvPr userDrawn="1"/>
        </p:nvSpPr>
        <p:spPr>
          <a:xfrm>
            <a:off x="1" y="0"/>
            <a:ext cx="6392389" cy="3297866"/>
          </a:xfrm>
          <a:custGeom>
            <a:avLst/>
            <a:gdLst>
              <a:gd name="connsiteX0" fmla="*/ 0 w 6392389"/>
              <a:gd name="connsiteY0" fmla="*/ 0 h 3297866"/>
              <a:gd name="connsiteX1" fmla="*/ 6392389 w 6392389"/>
              <a:gd name="connsiteY1" fmla="*/ 0 h 3297866"/>
              <a:gd name="connsiteX2" fmla="*/ 6039257 w 6392389"/>
              <a:gd name="connsiteY2" fmla="*/ 205593 h 3297866"/>
              <a:gd name="connsiteX3" fmla="*/ 4044501 w 6392389"/>
              <a:gd name="connsiteY3" fmla="*/ 1885401 h 3297866"/>
              <a:gd name="connsiteX4" fmla="*/ 41384 w 6392389"/>
              <a:gd name="connsiteY4" fmla="*/ 2408804 h 3297866"/>
              <a:gd name="connsiteX5" fmla="*/ 0 w 6392389"/>
              <a:gd name="connsiteY5" fmla="*/ 2349004 h 3297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92389" h="3297866">
                <a:moveTo>
                  <a:pt x="0" y="0"/>
                </a:moveTo>
                <a:lnTo>
                  <a:pt x="6392389" y="0"/>
                </a:lnTo>
                <a:lnTo>
                  <a:pt x="6039257" y="205593"/>
                </a:lnTo>
                <a:cubicBezTo>
                  <a:pt x="5243960" y="694220"/>
                  <a:pt x="4533171" y="1286369"/>
                  <a:pt x="4044501" y="1885401"/>
                </a:cubicBezTo>
                <a:cubicBezTo>
                  <a:pt x="2455953" y="3842789"/>
                  <a:pt x="879065" y="3516921"/>
                  <a:pt x="41384" y="2408804"/>
                </a:cubicBezTo>
                <a:lnTo>
                  <a:pt x="0" y="2349004"/>
                </a:lnTo>
                <a:close/>
              </a:path>
            </a:pathLst>
          </a:custGeom>
          <a:gradFill flip="none" rotWithShape="1">
            <a:gsLst>
              <a:gs pos="20000">
                <a:schemeClr val="accent3">
                  <a:lumMod val="25000"/>
                </a:schemeClr>
              </a:gs>
              <a:gs pos="100000">
                <a:schemeClr val="tx2">
                  <a:alpha val="54000"/>
                </a:schemeClr>
              </a:gs>
            </a:gsLst>
            <a:lin ang="10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5" name="Freeform: Shape 14">
            <a:extLst>
              <a:ext uri="{FF2B5EF4-FFF2-40B4-BE49-F238E27FC236}">
                <a16:creationId xmlns:a16="http://schemas.microsoft.com/office/drawing/2014/main" id="{3385D1DB-F6B1-8F65-1FDB-5CDD731A6DFC}"/>
              </a:ext>
            </a:extLst>
          </p:cNvPr>
          <p:cNvSpPr/>
          <p:nvPr userDrawn="1"/>
        </p:nvSpPr>
        <p:spPr>
          <a:xfrm>
            <a:off x="9517205" y="2"/>
            <a:ext cx="2674794" cy="6857999"/>
          </a:xfrm>
          <a:custGeom>
            <a:avLst/>
            <a:gdLst>
              <a:gd name="connsiteX0" fmla="*/ 2674793 w 2674794"/>
              <a:gd name="connsiteY0" fmla="*/ 0 h 6857999"/>
              <a:gd name="connsiteX1" fmla="*/ 2674794 w 2674794"/>
              <a:gd name="connsiteY1" fmla="*/ 6857999 h 6857999"/>
              <a:gd name="connsiteX2" fmla="*/ 1158844 w 2674794"/>
              <a:gd name="connsiteY2" fmla="*/ 6857999 h 6857999"/>
              <a:gd name="connsiteX3" fmla="*/ 1212639 w 2674794"/>
              <a:gd name="connsiteY3" fmla="*/ 6771304 h 6857999"/>
              <a:gd name="connsiteX4" fmla="*/ 1327460 w 2674794"/>
              <a:gd name="connsiteY4" fmla="*/ 6554527 h 6857999"/>
              <a:gd name="connsiteX5" fmla="*/ 545566 w 2674794"/>
              <a:gd name="connsiteY5" fmla="*/ 2293136 h 6857999"/>
              <a:gd name="connsiteX6" fmla="*/ 381787 w 2674794"/>
              <a:gd name="connsiteY6" fmla="*/ 3827 h 6857999"/>
              <a:gd name="connsiteX7" fmla="*/ 386161 w 2674794"/>
              <a:gd name="connsiteY7"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4794" h="6857999">
                <a:moveTo>
                  <a:pt x="2674793" y="0"/>
                </a:moveTo>
                <a:lnTo>
                  <a:pt x="2674794" y="6857999"/>
                </a:lnTo>
                <a:lnTo>
                  <a:pt x="1158844" y="6857999"/>
                </a:lnTo>
                <a:lnTo>
                  <a:pt x="1212639" y="6771304"/>
                </a:lnTo>
                <a:cubicBezTo>
                  <a:pt x="1256917" y="6696480"/>
                  <a:pt x="1295401" y="6624001"/>
                  <a:pt x="1327460" y="6554527"/>
                </a:cubicBezTo>
                <a:cubicBezTo>
                  <a:pt x="1840424" y="5442926"/>
                  <a:pt x="1337703" y="3374924"/>
                  <a:pt x="545566" y="2293136"/>
                </a:cubicBezTo>
                <a:cubicBezTo>
                  <a:pt x="-210423" y="1266170"/>
                  <a:pt x="-98154" y="469786"/>
                  <a:pt x="381787" y="3827"/>
                </a:cubicBezTo>
                <a:lnTo>
                  <a:pt x="386161" y="0"/>
                </a:lnTo>
                <a:close/>
              </a:path>
            </a:pathLst>
          </a:custGeom>
          <a:solidFill>
            <a:schemeClr val="tx2">
              <a:alpha val="32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1" name="glass card">
            <a:extLst>
              <a:ext uri="{FF2B5EF4-FFF2-40B4-BE49-F238E27FC236}">
                <a16:creationId xmlns:a16="http://schemas.microsoft.com/office/drawing/2014/main" id="{BAC99002-32F5-F4C1-2519-F23274B0580C}"/>
              </a:ext>
            </a:extLst>
          </p:cNvPr>
          <p:cNvSpPr/>
          <p:nvPr userDrawn="1"/>
        </p:nvSpPr>
        <p:spPr>
          <a:xfrm>
            <a:off x="1365705" y="1005155"/>
            <a:ext cx="9243233" cy="4978750"/>
          </a:xfrm>
          <a:prstGeom prst="roundRect">
            <a:avLst>
              <a:gd name="adj" fmla="val 6806"/>
            </a:avLst>
          </a:prstGeom>
          <a:gradFill>
            <a:gsLst>
              <a:gs pos="100000">
                <a:schemeClr val="bg1">
                  <a:alpha val="3000"/>
                </a:schemeClr>
              </a:gs>
              <a:gs pos="47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7" name="Freeform: Shape 26">
            <a:extLst>
              <a:ext uri="{FF2B5EF4-FFF2-40B4-BE49-F238E27FC236}">
                <a16:creationId xmlns:a16="http://schemas.microsoft.com/office/drawing/2014/main" id="{0DF239B3-DB66-3CD4-1BFE-4EBA82BC4A44}"/>
              </a:ext>
            </a:extLst>
          </p:cNvPr>
          <p:cNvSpPr/>
          <p:nvPr userDrawn="1"/>
        </p:nvSpPr>
        <p:spPr>
          <a:xfrm>
            <a:off x="0" y="5255333"/>
            <a:ext cx="2769194" cy="1602667"/>
          </a:xfrm>
          <a:custGeom>
            <a:avLst/>
            <a:gdLst>
              <a:gd name="connsiteX0" fmla="*/ 0 w 2769194"/>
              <a:gd name="connsiteY0" fmla="*/ 0 h 1602667"/>
              <a:gd name="connsiteX1" fmla="*/ 93250 w 2769194"/>
              <a:gd name="connsiteY1" fmla="*/ 101565 h 1602667"/>
              <a:gd name="connsiteX2" fmla="*/ 2646213 w 2769194"/>
              <a:gd name="connsiteY2" fmla="*/ 1567071 h 1602667"/>
              <a:gd name="connsiteX3" fmla="*/ 2769194 w 2769194"/>
              <a:gd name="connsiteY3" fmla="*/ 1602667 h 1602667"/>
              <a:gd name="connsiteX4" fmla="*/ 0 w 2769194"/>
              <a:gd name="connsiteY4" fmla="*/ 1602667 h 1602667"/>
              <a:gd name="connsiteX5" fmla="*/ 0 w 2769194"/>
              <a:gd name="connsiteY5" fmla="*/ 807120 h 1602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9194" h="1602667">
                <a:moveTo>
                  <a:pt x="0" y="0"/>
                </a:moveTo>
                <a:lnTo>
                  <a:pt x="93250" y="101565"/>
                </a:lnTo>
                <a:cubicBezTo>
                  <a:pt x="702540" y="735306"/>
                  <a:pt x="1672588" y="1259605"/>
                  <a:pt x="2646213" y="1567071"/>
                </a:cubicBezTo>
                <a:lnTo>
                  <a:pt x="2769194" y="1602667"/>
                </a:lnTo>
                <a:lnTo>
                  <a:pt x="0" y="1602667"/>
                </a:lnTo>
                <a:lnTo>
                  <a:pt x="0" y="807120"/>
                </a:lnTo>
                <a:close/>
              </a:path>
            </a:pathLst>
          </a:custGeom>
          <a:gradFill flip="none" rotWithShape="1">
            <a:gsLst>
              <a:gs pos="60000">
                <a:schemeClr val="accent3">
                  <a:alpha val="45000"/>
                </a:schemeClr>
              </a:gs>
              <a:gs pos="99000">
                <a:schemeClr val="accent5">
                  <a:alpha val="66721"/>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2597113"/>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7169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524000" y="2029968"/>
            <a:ext cx="9144000" cy="1069848"/>
          </a:xfrm>
        </p:spPr>
        <p:txBody>
          <a:bodyPr anchor="b">
            <a:no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560320" y="3803904"/>
            <a:ext cx="7068312" cy="75895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reeform 3">
            <a:extLst>
              <a:ext uri="{FF2B5EF4-FFF2-40B4-BE49-F238E27FC236}">
                <a16:creationId xmlns:a16="http://schemas.microsoft.com/office/drawing/2014/main" id="{F1F20C20-DE23-6FE7-74A0-517218ACED7A}"/>
              </a:ext>
            </a:extLst>
          </p:cNvPr>
          <p:cNvSpPr/>
          <p:nvPr userDrawn="1"/>
        </p:nvSpPr>
        <p:spPr>
          <a:xfrm rot="10800000">
            <a:off x="-1" y="5019503"/>
            <a:ext cx="9676770" cy="18384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29177"/>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4">
            <a:extLst>
              <a:ext uri="{FF2B5EF4-FFF2-40B4-BE49-F238E27FC236}">
                <a16:creationId xmlns:a16="http://schemas.microsoft.com/office/drawing/2014/main" id="{98E2EA35-4179-2438-E1D1-02EFA8830FF9}"/>
              </a:ext>
            </a:extLst>
          </p:cNvPr>
          <p:cNvSpPr/>
          <p:nvPr userDrawn="1"/>
        </p:nvSpPr>
        <p:spPr>
          <a:xfrm flipV="1">
            <a:off x="2763044" y="6076116"/>
            <a:ext cx="3946673" cy="781884"/>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accent4">
                  <a:lumMod val="75000"/>
                  <a:alpha val="46295"/>
                </a:schemeClr>
              </a:gs>
              <a:gs pos="33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5">
            <a:extLst>
              <a:ext uri="{FF2B5EF4-FFF2-40B4-BE49-F238E27FC236}">
                <a16:creationId xmlns:a16="http://schemas.microsoft.com/office/drawing/2014/main" id="{A7C0B16B-87E9-E92C-62F3-D1844BEE5B2D}"/>
              </a:ext>
            </a:extLst>
          </p:cNvPr>
          <p:cNvSpPr/>
          <p:nvPr userDrawn="1"/>
        </p:nvSpPr>
        <p:spPr>
          <a:xfrm rot="10800000">
            <a:off x="5393054" y="601597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6">
            <a:extLst>
              <a:ext uri="{FF2B5EF4-FFF2-40B4-BE49-F238E27FC236}">
                <a16:creationId xmlns:a16="http://schemas.microsoft.com/office/drawing/2014/main" id="{51F4118C-3B46-F20B-EF12-E16F7513844C}"/>
              </a:ext>
            </a:extLst>
          </p:cNvPr>
          <p:cNvSpPr/>
          <p:nvPr userDrawn="1"/>
        </p:nvSpPr>
        <p:spPr>
          <a:xfrm rot="10800000" flipH="1">
            <a:off x="-2688" y="5263861"/>
            <a:ext cx="12192000" cy="1599109"/>
          </a:xfrm>
          <a:custGeom>
            <a:avLst/>
            <a:gdLst>
              <a:gd name="connsiteX0" fmla="*/ 1373073 w 12192000"/>
              <a:gd name="connsiteY0" fmla="*/ 1599066 h 1599109"/>
              <a:gd name="connsiteX1" fmla="*/ 4901233 w 12192000"/>
              <a:gd name="connsiteY1" fmla="*/ 313816 h 1599109"/>
              <a:gd name="connsiteX2" fmla="*/ 7629483 w 12192000"/>
              <a:gd name="connsiteY2" fmla="*/ 1209099 h 1599109"/>
              <a:gd name="connsiteX3" fmla="*/ 7664573 w 12192000"/>
              <a:gd name="connsiteY3" fmla="*/ 1222798 h 1599109"/>
              <a:gd name="connsiteX4" fmla="*/ 7753536 w 12192000"/>
              <a:gd name="connsiteY4" fmla="*/ 1277391 h 1599109"/>
              <a:gd name="connsiteX5" fmla="*/ 9091947 w 12192000"/>
              <a:gd name="connsiteY5" fmla="*/ 1582567 h 1599109"/>
              <a:gd name="connsiteX6" fmla="*/ 12094171 w 12192000"/>
              <a:gd name="connsiteY6" fmla="*/ 359476 h 1599109"/>
              <a:gd name="connsiteX7" fmla="*/ 12192000 w 12192000"/>
              <a:gd name="connsiteY7" fmla="*/ 342643 h 1599109"/>
              <a:gd name="connsiteX8" fmla="*/ 12192000 w 12192000"/>
              <a:gd name="connsiteY8" fmla="*/ 0 h 1599109"/>
              <a:gd name="connsiteX9" fmla="*/ 0 w 12192000"/>
              <a:gd name="connsiteY9" fmla="*/ 0 h 1599109"/>
              <a:gd name="connsiteX10" fmla="*/ 0 w 12192000"/>
              <a:gd name="connsiteY10" fmla="*/ 1274406 h 1599109"/>
              <a:gd name="connsiteX11" fmla="*/ 34662 w 12192000"/>
              <a:gd name="connsiteY11" fmla="*/ 1293889 h 1599109"/>
              <a:gd name="connsiteX12" fmla="*/ 1373073 w 12192000"/>
              <a:gd name="connsiteY12" fmla="*/ 1599066 h 1599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1599109">
                <a:moveTo>
                  <a:pt x="1373073" y="1599066"/>
                </a:moveTo>
                <a:cubicBezTo>
                  <a:pt x="2786156" y="1591793"/>
                  <a:pt x="3395560" y="338997"/>
                  <a:pt x="4901233" y="313816"/>
                </a:cubicBezTo>
                <a:cubicBezTo>
                  <a:pt x="6312803" y="290208"/>
                  <a:pt x="7142906" y="993618"/>
                  <a:pt x="7629483" y="1209099"/>
                </a:cubicBezTo>
                <a:lnTo>
                  <a:pt x="7664573" y="1222798"/>
                </a:lnTo>
                <a:lnTo>
                  <a:pt x="7753536" y="1277391"/>
                </a:lnTo>
                <a:cubicBezTo>
                  <a:pt x="8110655" y="1460232"/>
                  <a:pt x="8562041" y="1585295"/>
                  <a:pt x="9091947" y="1582567"/>
                </a:cubicBezTo>
                <a:cubicBezTo>
                  <a:pt x="10328396" y="1576205"/>
                  <a:pt x="10949524" y="616237"/>
                  <a:pt x="12094171" y="359476"/>
                </a:cubicBezTo>
                <a:lnTo>
                  <a:pt x="12192000" y="342643"/>
                </a:lnTo>
                <a:lnTo>
                  <a:pt x="12192000" y="0"/>
                </a:lnTo>
                <a:lnTo>
                  <a:pt x="0" y="0"/>
                </a:lnTo>
                <a:lnTo>
                  <a:pt x="0" y="1274406"/>
                </a:lnTo>
                <a:lnTo>
                  <a:pt x="34662" y="1293889"/>
                </a:lnTo>
                <a:cubicBezTo>
                  <a:pt x="391780" y="1476730"/>
                  <a:pt x="843167" y="1601794"/>
                  <a:pt x="1373073" y="1599066"/>
                </a:cubicBezTo>
                <a:close/>
              </a:path>
            </a:pathLst>
          </a:custGeom>
          <a:gradFill flip="none" rotWithShape="1">
            <a:gsLst>
              <a:gs pos="0">
                <a:schemeClr val="accent6">
                  <a:alpha val="69328"/>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3" name="Straight Connector 12">
            <a:extLst>
              <a:ext uri="{FF2B5EF4-FFF2-40B4-BE49-F238E27FC236}">
                <a16:creationId xmlns:a16="http://schemas.microsoft.com/office/drawing/2014/main" id="{CD0F8AA9-2207-2D4C-C2E0-FEF14E2D9ACF}"/>
              </a:ext>
            </a:extLst>
          </p:cNvPr>
          <p:cNvCxnSpPr>
            <a:cxnSpLocks/>
          </p:cNvCxnSpPr>
          <p:nvPr userDrawn="1"/>
        </p:nvCxnSpPr>
        <p:spPr>
          <a:xfrm rot="5400000">
            <a:off x="6095999" y="2597191"/>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2753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hart or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p:txBody>
          <a:bodyPr anchor="b">
            <a:noAutofit/>
          </a:bodyPr>
          <a:lstStyle>
            <a:lvl1pPr algn="ct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4">
            <a:extLst>
              <a:ext uri="{FF2B5EF4-FFF2-40B4-BE49-F238E27FC236}">
                <a16:creationId xmlns:a16="http://schemas.microsoft.com/office/drawing/2014/main" id="{4A4F769D-48D3-2655-40A4-674F657B741D}"/>
              </a:ext>
            </a:extLst>
          </p:cNvPr>
          <p:cNvSpPr>
            <a:spLocks noGrp="1"/>
          </p:cNvSpPr>
          <p:nvPr>
            <p:ph type="sldNum" sz="quarter" idx="11"/>
          </p:nvPr>
        </p:nvSpPr>
        <p:spPr/>
        <p:txBody>
          <a:bodyPr>
            <a:noAutofit/>
          </a:bodyPr>
          <a:lstStyle/>
          <a:p>
            <a:fld id="{294A09A9-5501-47C1-A89A-A340965A2BE2}" type="slidenum">
              <a:rPr lang="en-US" smtClean="0"/>
              <a:pPr/>
              <a:t>‹#›</a:t>
            </a:fld>
            <a:endParaRPr lang="en-US" dirty="0"/>
          </a:p>
        </p:txBody>
      </p:sp>
      <p:sp>
        <p:nvSpPr>
          <p:cNvPr id="4" name="Footer Placeholder 3">
            <a:extLst>
              <a:ext uri="{FF2B5EF4-FFF2-40B4-BE49-F238E27FC236}">
                <a16:creationId xmlns:a16="http://schemas.microsoft.com/office/drawing/2014/main" id="{33FA0756-78EA-68DD-4650-F40EF5F2520E}"/>
              </a:ext>
            </a:extLst>
          </p:cNvPr>
          <p:cNvSpPr>
            <a:spLocks noGrp="1"/>
          </p:cNvSpPr>
          <p:nvPr>
            <p:ph type="ftr" sz="quarter" idx="10"/>
          </p:nvPr>
        </p:nvSpPr>
        <p:spPr/>
        <p:txBody>
          <a:bodyPr>
            <a:noAutofit/>
          </a:bodyPr>
          <a:lstStyle/>
          <a:p>
            <a:r>
              <a:rPr lang="en-US"/>
              <a:t>Crypto: investing &amp; trading</a:t>
            </a:r>
            <a:endParaRPr lang="en-US" dirty="0"/>
          </a:p>
        </p:txBody>
      </p:sp>
    </p:spTree>
    <p:extLst>
      <p:ext uri="{BB962C8B-B14F-4D97-AF65-F5344CB8AC3E}">
        <p14:creationId xmlns:p14="http://schemas.microsoft.com/office/powerpoint/2010/main" val="734534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Quote">
    <p:spTree>
      <p:nvGrpSpPr>
        <p:cNvPr id="1" name=""/>
        <p:cNvGrpSpPr/>
        <p:nvPr/>
      </p:nvGrpSpPr>
      <p:grpSpPr>
        <a:xfrm>
          <a:off x="0" y="0"/>
          <a:ext cx="0" cy="0"/>
          <a:chOff x="0" y="0"/>
          <a:chExt cx="0" cy="0"/>
        </a:xfrm>
      </p:grpSpPr>
      <p:sp>
        <p:nvSpPr>
          <p:cNvPr id="21" name="Freeform 6">
            <a:extLst>
              <a:ext uri="{FF2B5EF4-FFF2-40B4-BE49-F238E27FC236}">
                <a16:creationId xmlns:a16="http://schemas.microsoft.com/office/drawing/2014/main" id="{77AD3460-2264-3A46-993B-9F2AACED0504}"/>
              </a:ext>
            </a:extLst>
          </p:cNvPr>
          <p:cNvSpPr/>
          <p:nvPr userDrawn="1"/>
        </p:nvSpPr>
        <p:spPr>
          <a:xfrm rot="10800000">
            <a:off x="5393054"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7">
            <a:extLst>
              <a:ext uri="{FF2B5EF4-FFF2-40B4-BE49-F238E27FC236}">
                <a16:creationId xmlns:a16="http://schemas.microsoft.com/office/drawing/2014/main" id="{BBBF3E9C-CCEA-98FA-7F69-55AF07558021}"/>
              </a:ext>
            </a:extLst>
          </p:cNvPr>
          <p:cNvSpPr/>
          <p:nvPr userDrawn="1"/>
        </p:nvSpPr>
        <p:spPr>
          <a:xfrm flipH="1">
            <a:off x="-2"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9">
            <a:extLst>
              <a:ext uri="{FF2B5EF4-FFF2-40B4-BE49-F238E27FC236}">
                <a16:creationId xmlns:a16="http://schemas.microsoft.com/office/drawing/2014/main" id="{4F937A84-95EC-EB44-470A-C82AD8E99897}"/>
              </a:ext>
            </a:extLst>
          </p:cNvPr>
          <p:cNvSpPr/>
          <p:nvPr userDrawn="1"/>
        </p:nvSpPr>
        <p:spPr>
          <a:xfrm>
            <a:off x="-24334" y="0"/>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3916598 w 12218982"/>
              <a:gd name="connsiteY10" fmla="*/ 272807 h 6860673"/>
              <a:gd name="connsiteX11" fmla="*/ 3863345 w 12218982"/>
              <a:gd name="connsiteY11" fmla="*/ 286233 h 6860673"/>
              <a:gd name="connsiteX12" fmla="*/ 3729781 w 12218982"/>
              <a:gd name="connsiteY12" fmla="*/ 323286 h 6860673"/>
              <a:gd name="connsiteX13" fmla="*/ 1717096 w 12218982"/>
              <a:gd name="connsiteY13" fmla="*/ 1451719 h 6860673"/>
              <a:gd name="connsiteX14" fmla="*/ 708597 w 12218982"/>
              <a:gd name="connsiteY14" fmla="*/ 2695590 h 6860673"/>
              <a:gd name="connsiteX15" fmla="*/ 486880 w 12218982"/>
              <a:gd name="connsiteY15" fmla="*/ 3274865 h 6860673"/>
              <a:gd name="connsiteX16" fmla="*/ 365997 w 12218982"/>
              <a:gd name="connsiteY16" fmla="*/ 3984708 h 6860673"/>
              <a:gd name="connsiteX17" fmla="*/ 341340 w 12218982"/>
              <a:gd name="connsiteY17" fmla="*/ 4301231 h 6860673"/>
              <a:gd name="connsiteX18" fmla="*/ 341340 w 12218982"/>
              <a:gd name="connsiteY18" fmla="*/ 5007890 h 6860673"/>
              <a:gd name="connsiteX19" fmla="*/ 343276 w 12218982"/>
              <a:gd name="connsiteY19" fmla="*/ 5047516 h 6860673"/>
              <a:gd name="connsiteX20" fmla="*/ 814636 w 12218982"/>
              <a:gd name="connsiteY20" fmla="*/ 6666819 h 6860673"/>
              <a:gd name="connsiteX21" fmla="*/ 915601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4862080" y="106647"/>
                  <a:pt x="4363654" y="168899"/>
                  <a:pt x="3916598" y="272807"/>
                </a:cubicBezTo>
                <a:lnTo>
                  <a:pt x="3863345" y="286233"/>
                </a:lnTo>
                <a:lnTo>
                  <a:pt x="3729781" y="323286"/>
                </a:lnTo>
                <a:cubicBezTo>
                  <a:pt x="3036967" y="532141"/>
                  <a:pt x="2352843" y="836886"/>
                  <a:pt x="1717096" y="1451719"/>
                </a:cubicBezTo>
                <a:cubicBezTo>
                  <a:pt x="1293264" y="1861607"/>
                  <a:pt x="966036" y="2282242"/>
                  <a:pt x="708597" y="2695590"/>
                </a:cubicBezTo>
                <a:cubicBezTo>
                  <a:pt x="593502" y="2938109"/>
                  <a:pt x="544310" y="3015870"/>
                  <a:pt x="486880" y="3274865"/>
                </a:cubicBezTo>
                <a:cubicBezTo>
                  <a:pt x="434927" y="3498394"/>
                  <a:pt x="385149" y="3635910"/>
                  <a:pt x="365997" y="3984708"/>
                </a:cubicBezTo>
                <a:lnTo>
                  <a:pt x="341340" y="4301231"/>
                </a:lnTo>
                <a:lnTo>
                  <a:pt x="341340" y="5007890"/>
                </a:lnTo>
                <a:cubicBezTo>
                  <a:pt x="341985" y="5021099"/>
                  <a:pt x="342631" y="5034307"/>
                  <a:pt x="343276" y="5047516"/>
                </a:cubicBezTo>
                <a:cubicBezTo>
                  <a:pt x="393784" y="5666740"/>
                  <a:pt x="577442" y="6188267"/>
                  <a:pt x="814636" y="6666819"/>
                </a:cubicBezTo>
                <a:lnTo>
                  <a:pt x="915601"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25000"/>
                  <a:alpha val="60164"/>
                </a:schemeClr>
              </a:gs>
              <a:gs pos="77000">
                <a:schemeClr val="accent3">
                  <a:lumMod val="25000"/>
                  <a:alpha val="29492"/>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10">
            <a:extLst>
              <a:ext uri="{FF2B5EF4-FFF2-40B4-BE49-F238E27FC236}">
                <a16:creationId xmlns:a16="http://schemas.microsoft.com/office/drawing/2014/main" id="{A9BF091C-5F88-B50F-03BB-284950253993}"/>
              </a:ext>
            </a:extLst>
          </p:cNvPr>
          <p:cNvSpPr/>
          <p:nvPr userDrawn="1"/>
        </p:nvSpPr>
        <p:spPr>
          <a:xfrm flipV="1">
            <a:off x="204060" y="5377862"/>
            <a:ext cx="7471211" cy="1480138"/>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tx2">
                  <a:alpha val="8123"/>
                </a:schemeClr>
              </a:gs>
              <a:gs pos="33000">
                <a:schemeClr val="accent6">
                  <a:alpha val="13919"/>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16">
            <a:extLst>
              <a:ext uri="{FF2B5EF4-FFF2-40B4-BE49-F238E27FC236}">
                <a16:creationId xmlns:a16="http://schemas.microsoft.com/office/drawing/2014/main" id="{3FF8B459-35F5-072D-56FA-415EEABE6DC2}"/>
              </a:ext>
            </a:extLst>
          </p:cNvPr>
          <p:cNvSpPr/>
          <p:nvPr userDrawn="1"/>
        </p:nvSpPr>
        <p:spPr>
          <a:xfrm rot="10800000">
            <a:off x="-30287" y="4822578"/>
            <a:ext cx="12230888" cy="2040391"/>
          </a:xfrm>
          <a:custGeom>
            <a:avLst/>
            <a:gdLst>
              <a:gd name="connsiteX0" fmla="*/ 1751979 w 12230888"/>
              <a:gd name="connsiteY0" fmla="*/ 2040336 h 2040391"/>
              <a:gd name="connsiteX1" fmla="*/ 44227 w 12230888"/>
              <a:gd name="connsiteY1" fmla="*/ 1650944 h 2040391"/>
              <a:gd name="connsiteX2" fmla="*/ 0 w 12230888"/>
              <a:gd name="connsiteY2" fmla="*/ 1626084 h 2040391"/>
              <a:gd name="connsiteX3" fmla="*/ 0 w 12230888"/>
              <a:gd name="connsiteY3" fmla="*/ 0 h 2040391"/>
              <a:gd name="connsiteX4" fmla="*/ 12230888 w 12230888"/>
              <a:gd name="connsiteY4" fmla="*/ 0 h 2040391"/>
              <a:gd name="connsiteX5" fmla="*/ 12230888 w 12230888"/>
              <a:gd name="connsiteY5" fmla="*/ 1945571 h 2040391"/>
              <a:gd name="connsiteX6" fmla="*/ 12158569 w 12230888"/>
              <a:gd name="connsiteY6" fmla="*/ 1963333 h 2040391"/>
              <a:gd name="connsiteX7" fmla="*/ 11600914 w 12230888"/>
              <a:gd name="connsiteY7" fmla="*/ 2019284 h 2040391"/>
              <a:gd name="connsiteX8" fmla="*/ 9893162 w 12230888"/>
              <a:gd name="connsiteY8" fmla="*/ 1629893 h 2040391"/>
              <a:gd name="connsiteX9" fmla="*/ 9779649 w 12230888"/>
              <a:gd name="connsiteY9" fmla="*/ 1560235 h 2040391"/>
              <a:gd name="connsiteX10" fmla="*/ 9734876 w 12230888"/>
              <a:gd name="connsiteY10" fmla="*/ 1542756 h 2040391"/>
              <a:gd name="connsiteX11" fmla="*/ 6253752 w 12230888"/>
              <a:gd name="connsiteY11" fmla="*/ 400415 h 2040391"/>
              <a:gd name="connsiteX12" fmla="*/ 1751979 w 12230888"/>
              <a:gd name="connsiteY12" fmla="*/ 2040336 h 2040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230888" h="2040391">
                <a:moveTo>
                  <a:pt x="1751979" y="2040336"/>
                </a:moveTo>
                <a:cubicBezTo>
                  <a:pt x="1075843" y="2043817"/>
                  <a:pt x="499894" y="1884241"/>
                  <a:pt x="44227" y="1650944"/>
                </a:cubicBezTo>
                <a:lnTo>
                  <a:pt x="0" y="1626084"/>
                </a:lnTo>
                <a:lnTo>
                  <a:pt x="0" y="0"/>
                </a:lnTo>
                <a:lnTo>
                  <a:pt x="12230888" y="0"/>
                </a:lnTo>
                <a:lnTo>
                  <a:pt x="12230888" y="1945571"/>
                </a:lnTo>
                <a:lnTo>
                  <a:pt x="12158569" y="1963333"/>
                </a:lnTo>
                <a:cubicBezTo>
                  <a:pt x="11983060" y="1998243"/>
                  <a:pt x="11798121" y="2018269"/>
                  <a:pt x="11600914" y="2019284"/>
                </a:cubicBezTo>
                <a:cubicBezTo>
                  <a:pt x="10924778" y="2022765"/>
                  <a:pt x="10348830" y="1863190"/>
                  <a:pt x="9893162" y="1629893"/>
                </a:cubicBezTo>
                <a:lnTo>
                  <a:pt x="9779649" y="1560235"/>
                </a:lnTo>
                <a:lnTo>
                  <a:pt x="9734876" y="1542756"/>
                </a:lnTo>
                <a:cubicBezTo>
                  <a:pt x="9114026" y="1267812"/>
                  <a:pt x="8054852" y="370292"/>
                  <a:pt x="6253752" y="400415"/>
                </a:cubicBezTo>
                <a:cubicBezTo>
                  <a:pt x="4332581" y="432545"/>
                  <a:pt x="3555009" y="2031056"/>
                  <a:pt x="1751979" y="2040336"/>
                </a:cubicBezTo>
                <a:close/>
              </a:path>
            </a:pathLst>
          </a:custGeom>
          <a:gradFill flip="none" rotWithShape="1">
            <a:gsLst>
              <a:gs pos="0">
                <a:schemeClr val="accent6">
                  <a:alpha val="23907"/>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Freeform 17">
            <a:extLst>
              <a:ext uri="{FF2B5EF4-FFF2-40B4-BE49-F238E27FC236}">
                <a16:creationId xmlns:a16="http://schemas.microsoft.com/office/drawing/2014/main" id="{73867BC1-390E-647F-B33F-8622748E6530}"/>
              </a:ext>
            </a:extLst>
          </p:cNvPr>
          <p:cNvSpPr/>
          <p:nvPr userDrawn="1"/>
        </p:nvSpPr>
        <p:spPr>
          <a:xfrm>
            <a:off x="0" y="0"/>
            <a:ext cx="12192000" cy="2035422"/>
          </a:xfrm>
          <a:custGeom>
            <a:avLst/>
            <a:gdLst>
              <a:gd name="connsiteX0" fmla="*/ 0 w 12192000"/>
              <a:gd name="connsiteY0" fmla="*/ 0 h 2035422"/>
              <a:gd name="connsiteX1" fmla="*/ 12192000 w 12192000"/>
              <a:gd name="connsiteY1" fmla="*/ 0 h 2035422"/>
              <a:gd name="connsiteX2" fmla="*/ 12192000 w 12192000"/>
              <a:gd name="connsiteY2" fmla="*/ 1759689 h 2035422"/>
              <a:gd name="connsiteX3" fmla="*/ 12103306 w 12192000"/>
              <a:gd name="connsiteY3" fmla="*/ 1729773 h 2035422"/>
              <a:gd name="connsiteX4" fmla="*/ 11659615 w 12192000"/>
              <a:gd name="connsiteY4" fmla="*/ 1535038 h 2035422"/>
              <a:gd name="connsiteX5" fmla="*/ 11521247 w 12192000"/>
              <a:gd name="connsiteY5" fmla="*/ 1450127 h 2035422"/>
              <a:gd name="connsiteX6" fmla="*/ 11466670 w 12192000"/>
              <a:gd name="connsiteY6" fmla="*/ 1428821 h 2035422"/>
              <a:gd name="connsiteX7" fmla="*/ 7223297 w 12192000"/>
              <a:gd name="connsiteY7" fmla="*/ 36346 h 2035422"/>
              <a:gd name="connsiteX8" fmla="*/ 1735787 w 12192000"/>
              <a:gd name="connsiteY8" fmla="*/ 2035354 h 2035422"/>
              <a:gd name="connsiteX9" fmla="*/ 97785 w 12192000"/>
              <a:gd name="connsiteY9" fmla="*/ 1755433 h 2035422"/>
              <a:gd name="connsiteX10" fmla="*/ 0 w 12192000"/>
              <a:gd name="connsiteY10" fmla="*/ 1715854 h 2035422"/>
              <a:gd name="connsiteX11" fmla="*/ 0 w 12192000"/>
              <a:gd name="connsiteY11" fmla="*/ 0 h 2035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2035422">
                <a:moveTo>
                  <a:pt x="0" y="0"/>
                </a:moveTo>
                <a:lnTo>
                  <a:pt x="12192000" y="0"/>
                </a:lnTo>
                <a:lnTo>
                  <a:pt x="12192000" y="1759689"/>
                </a:lnTo>
                <a:lnTo>
                  <a:pt x="12103306" y="1729773"/>
                </a:lnTo>
                <a:cubicBezTo>
                  <a:pt x="11946501" y="1671612"/>
                  <a:pt x="11798476" y="1606133"/>
                  <a:pt x="11659615" y="1535038"/>
                </a:cubicBezTo>
                <a:lnTo>
                  <a:pt x="11521247" y="1450127"/>
                </a:lnTo>
                <a:lnTo>
                  <a:pt x="11466670" y="1428821"/>
                </a:lnTo>
                <a:cubicBezTo>
                  <a:pt x="10709874" y="1093673"/>
                  <a:pt x="9418777" y="-373"/>
                  <a:pt x="7223297" y="36346"/>
                </a:cubicBezTo>
                <a:cubicBezTo>
                  <a:pt x="4881454" y="75511"/>
                  <a:pt x="3933620" y="2024042"/>
                  <a:pt x="1735787" y="2035354"/>
                </a:cubicBezTo>
                <a:cubicBezTo>
                  <a:pt x="1117647" y="2038536"/>
                  <a:pt x="568201" y="1929916"/>
                  <a:pt x="97785" y="1755433"/>
                </a:cubicBezTo>
                <a:lnTo>
                  <a:pt x="0" y="1715854"/>
                </a:lnTo>
                <a:lnTo>
                  <a:pt x="0" y="0"/>
                </a:lnTo>
                <a:close/>
              </a:path>
            </a:pathLst>
          </a:custGeom>
          <a:gradFill flip="none" rotWithShape="1">
            <a:gsLst>
              <a:gs pos="0">
                <a:schemeClr val="accent3">
                  <a:lumMod val="25000"/>
                </a:schemeClr>
              </a:gs>
              <a:gs pos="99000">
                <a:schemeClr val="accent3">
                  <a:lumMod val="25000"/>
                </a:schemeClr>
              </a:gs>
              <a:gs pos="31000">
                <a:schemeClr val="accent6">
                  <a:alpha val="69328"/>
                </a:schemeClr>
              </a:gs>
              <a:gs pos="73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18">
            <a:extLst>
              <a:ext uri="{FF2B5EF4-FFF2-40B4-BE49-F238E27FC236}">
                <a16:creationId xmlns:a16="http://schemas.microsoft.com/office/drawing/2014/main" id="{FA6C5756-59FF-66C3-2611-3D7AB2049ABE}"/>
              </a:ext>
            </a:extLst>
          </p:cNvPr>
          <p:cNvSpPr/>
          <p:nvPr userDrawn="1"/>
        </p:nvSpPr>
        <p:spPr>
          <a:xfrm flipH="1">
            <a:off x="-2"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19">
            <a:extLst>
              <a:ext uri="{FF2B5EF4-FFF2-40B4-BE49-F238E27FC236}">
                <a16:creationId xmlns:a16="http://schemas.microsoft.com/office/drawing/2014/main" id="{EF6D3160-DA6D-8CDA-3A13-8A43EC05449D}"/>
              </a:ext>
            </a:extLst>
          </p:cNvPr>
          <p:cNvSpPr/>
          <p:nvPr userDrawn="1"/>
        </p:nvSpPr>
        <p:spPr>
          <a:xfrm>
            <a:off x="0" y="739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86000" y="2752344"/>
            <a:ext cx="7763256" cy="1600200"/>
          </a:xfrm>
        </p:spPr>
        <p:txBody>
          <a:bodyPr anchor="t">
            <a:noAutofit/>
          </a:bodyPr>
          <a:lstStyle>
            <a:lvl1pPr algn="ctr">
              <a:lnSpc>
                <a:spcPct val="100000"/>
              </a:lnSpc>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7132320" y="4233672"/>
            <a:ext cx="2843784" cy="448056"/>
          </a:xfrm>
        </p:spPr>
        <p:txBody>
          <a:bodyPr>
            <a:no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789227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5 Column">
    <p:spTree>
      <p:nvGrpSpPr>
        <p:cNvPr id="1" name=""/>
        <p:cNvGrpSpPr/>
        <p:nvPr/>
      </p:nvGrpSpPr>
      <p:grpSpPr>
        <a:xfrm>
          <a:off x="0" y="0"/>
          <a:ext cx="0" cy="0"/>
          <a:chOff x="0" y="0"/>
          <a:chExt cx="0" cy="0"/>
        </a:xfrm>
      </p:grpSpPr>
      <p:sp>
        <p:nvSpPr>
          <p:cNvPr id="51" name="Text Placeholder 50">
            <a:extLst>
              <a:ext uri="{FF2B5EF4-FFF2-40B4-BE49-F238E27FC236}">
                <a16:creationId xmlns:a16="http://schemas.microsoft.com/office/drawing/2014/main" id="{100A0D9B-ADC5-C41B-130F-1EA1EDE9F2E2}"/>
              </a:ext>
            </a:extLst>
          </p:cNvPr>
          <p:cNvSpPr>
            <a:spLocks noGrp="1"/>
          </p:cNvSpPr>
          <p:nvPr>
            <p:ph type="body" sz="quarter" idx="21"/>
          </p:nvPr>
        </p:nvSpPr>
        <p:spPr>
          <a:xfrm>
            <a:off x="937260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695761 h 1856232"/>
              <a:gd name="connsiteX3" fmla="*/ 1933505 w 2093976"/>
              <a:gd name="connsiteY3" fmla="*/ 1856232 h 1856232"/>
              <a:gd name="connsiteX4" fmla="*/ 0 w 2093976"/>
              <a:gd name="connsiteY4" fmla="*/ 1856232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695761"/>
                </a:lnTo>
                <a:cubicBezTo>
                  <a:pt x="2093976" y="1784387"/>
                  <a:pt x="2022131" y="1856232"/>
                  <a:pt x="1933505" y="1856232"/>
                </a:cubicBezTo>
                <a:lnTo>
                  <a:pt x="0" y="1856232"/>
                </a:ln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a:t>Click to edit Master text styles</a:t>
            </a:r>
          </a:p>
        </p:txBody>
      </p:sp>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655064" y="832104"/>
            <a:ext cx="8878824" cy="1069848"/>
          </a:xfrm>
        </p:spPr>
        <p:txBody>
          <a:bodyPr anchor="b"/>
          <a:lstStyle>
            <a:lvl1pPr algn="ctr">
              <a:defRPr/>
            </a:lvl1pPr>
          </a:lstStyle>
          <a:p>
            <a:r>
              <a:rPr lang="en-US"/>
              <a:t>Click to edit Master title style</a:t>
            </a:r>
          </a:p>
        </p:txBody>
      </p:sp>
      <p:sp>
        <p:nvSpPr>
          <p:cNvPr id="57" name="Text Placeholder 56">
            <a:extLst>
              <a:ext uri="{FF2B5EF4-FFF2-40B4-BE49-F238E27FC236}">
                <a16:creationId xmlns:a16="http://schemas.microsoft.com/office/drawing/2014/main" id="{9AF8AEFF-3F3B-8AFC-621B-F653E2F1B744}"/>
              </a:ext>
            </a:extLst>
          </p:cNvPr>
          <p:cNvSpPr>
            <a:spLocks noGrp="1"/>
          </p:cNvSpPr>
          <p:nvPr>
            <p:ph type="body" sz="quarter" idx="12"/>
          </p:nvPr>
        </p:nvSpPr>
        <p:spPr>
          <a:xfrm>
            <a:off x="727339" y="2478024"/>
            <a:ext cx="2098157" cy="702770"/>
          </a:xfrm>
          <a:custGeom>
            <a:avLst/>
            <a:gdLst>
              <a:gd name="connsiteX0" fmla="*/ 169182 w 2098157"/>
              <a:gd name="connsiteY0" fmla="*/ 0 h 702770"/>
              <a:gd name="connsiteX1" fmla="*/ 2098157 w 2098157"/>
              <a:gd name="connsiteY1" fmla="*/ 0 h 702770"/>
              <a:gd name="connsiteX2" fmla="*/ 2098157 w 2098157"/>
              <a:gd name="connsiteY2" fmla="*/ 702770 h 702770"/>
              <a:gd name="connsiteX3" fmla="*/ 2097025 w 2098157"/>
              <a:gd name="connsiteY3" fmla="*/ 702770 h 702770"/>
              <a:gd name="connsiteX4" fmla="*/ 503974 w 2098157"/>
              <a:gd name="connsiteY4" fmla="*/ 702770 h 702770"/>
              <a:gd name="connsiteX5" fmla="*/ 0 w 2098157"/>
              <a:gd name="connsiteY5" fmla="*/ 702770 h 702770"/>
              <a:gd name="connsiteX6" fmla="*/ 0 w 2098157"/>
              <a:gd name="connsiteY6" fmla="*/ 202766 h 702770"/>
              <a:gd name="connsiteX7" fmla="*/ 136581 w 2098157"/>
              <a:gd name="connsiteY7" fmla="*/ 3900 h 702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70">
                <a:moveTo>
                  <a:pt x="169182" y="0"/>
                </a:moveTo>
                <a:lnTo>
                  <a:pt x="2098157" y="0"/>
                </a:lnTo>
                <a:lnTo>
                  <a:pt x="2098157" y="702770"/>
                </a:lnTo>
                <a:lnTo>
                  <a:pt x="2097025" y="702770"/>
                </a:lnTo>
                <a:lnTo>
                  <a:pt x="503974" y="702770"/>
                </a:lnTo>
                <a:lnTo>
                  <a:pt x="0" y="702770"/>
                </a:lnTo>
                <a:lnTo>
                  <a:pt x="0" y="202766"/>
                </a:lnTo>
                <a:cubicBezTo>
                  <a:pt x="0" y="104671"/>
                  <a:pt x="58634" y="22828"/>
                  <a:pt x="136581" y="3900"/>
                </a:cubicBezTo>
                <a:close/>
              </a:path>
            </a:pathLst>
          </a:custGeom>
          <a:solidFill>
            <a:schemeClr val="accent6"/>
          </a:solidFill>
          <a:ln w="12700">
            <a:solidFill>
              <a:schemeClr val="accent6"/>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52" name="Text Placeholder 51">
            <a:extLst>
              <a:ext uri="{FF2B5EF4-FFF2-40B4-BE49-F238E27FC236}">
                <a16:creationId xmlns:a16="http://schemas.microsoft.com/office/drawing/2014/main" id="{C0111168-089D-E125-6CBB-0B288CE8D5B0}"/>
              </a:ext>
            </a:extLst>
          </p:cNvPr>
          <p:cNvSpPr>
            <a:spLocks noGrp="1"/>
          </p:cNvSpPr>
          <p:nvPr>
            <p:ph type="body" sz="quarter" idx="13"/>
          </p:nvPr>
        </p:nvSpPr>
        <p:spPr>
          <a:xfrm>
            <a:off x="73152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856232 h 1856232"/>
              <a:gd name="connsiteX3" fmla="*/ 160471 w 2093976"/>
              <a:gd name="connsiteY3" fmla="*/ 1856232 h 1856232"/>
              <a:gd name="connsiteX4" fmla="*/ 0 w 2093976"/>
              <a:gd name="connsiteY4" fmla="*/ 1695761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856232"/>
                </a:lnTo>
                <a:lnTo>
                  <a:pt x="160471" y="1856232"/>
                </a:lnTo>
                <a:cubicBezTo>
                  <a:pt x="71845" y="1856232"/>
                  <a:pt x="0" y="1784387"/>
                  <a:pt x="0" y="1695761"/>
                </a:cubicBez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2884932" y="2478024"/>
            <a:ext cx="2103120" cy="704088"/>
          </a:xfrm>
          <a:solidFill>
            <a:schemeClr val="accent1"/>
          </a:solidFill>
          <a:ln w="12700">
            <a:solidFill>
              <a:schemeClr val="accent1"/>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289179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047488" y="2478024"/>
            <a:ext cx="2103120" cy="704088"/>
          </a:xfrm>
          <a:solidFill>
            <a:schemeClr val="accent4"/>
          </a:solidFill>
          <a:ln w="12700">
            <a:solidFill>
              <a:schemeClr val="accent4"/>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05206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210044" y="2478024"/>
            <a:ext cx="2103120" cy="704088"/>
          </a:xfrm>
          <a:solidFill>
            <a:schemeClr val="accent2"/>
          </a:solidFill>
          <a:ln w="12700">
            <a:solidFill>
              <a:schemeClr val="accent2"/>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21233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55" name="Text Placeholder 54">
            <a:extLst>
              <a:ext uri="{FF2B5EF4-FFF2-40B4-BE49-F238E27FC236}">
                <a16:creationId xmlns:a16="http://schemas.microsoft.com/office/drawing/2014/main" id="{76A5CBAC-0099-3E8F-E44D-7B999D707964}"/>
              </a:ext>
            </a:extLst>
          </p:cNvPr>
          <p:cNvSpPr>
            <a:spLocks noGrp="1"/>
          </p:cNvSpPr>
          <p:nvPr>
            <p:ph type="body" sz="quarter" idx="20"/>
          </p:nvPr>
        </p:nvSpPr>
        <p:spPr>
          <a:xfrm>
            <a:off x="9372600" y="2478025"/>
            <a:ext cx="2098157" cy="702769"/>
          </a:xfrm>
          <a:custGeom>
            <a:avLst/>
            <a:gdLst>
              <a:gd name="connsiteX0" fmla="*/ 0 w 2098157"/>
              <a:gd name="connsiteY0" fmla="*/ 0 h 702769"/>
              <a:gd name="connsiteX1" fmla="*/ 1928984 w 2098157"/>
              <a:gd name="connsiteY1" fmla="*/ 0 h 702769"/>
              <a:gd name="connsiteX2" fmla="*/ 1961576 w 2098157"/>
              <a:gd name="connsiteY2" fmla="*/ 3899 h 702769"/>
              <a:gd name="connsiteX3" fmla="*/ 2098157 w 2098157"/>
              <a:gd name="connsiteY3" fmla="*/ 202765 h 702769"/>
              <a:gd name="connsiteX4" fmla="*/ 2098157 w 2098157"/>
              <a:gd name="connsiteY4" fmla="*/ 702769 h 702769"/>
              <a:gd name="connsiteX5" fmla="*/ 1594183 w 2098157"/>
              <a:gd name="connsiteY5" fmla="*/ 702769 h 702769"/>
              <a:gd name="connsiteX6" fmla="*/ 1132 w 2098157"/>
              <a:gd name="connsiteY6" fmla="*/ 702769 h 702769"/>
              <a:gd name="connsiteX7" fmla="*/ 0 w 2098157"/>
              <a:gd name="connsiteY7" fmla="*/ 702769 h 702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69">
                <a:moveTo>
                  <a:pt x="0" y="0"/>
                </a:moveTo>
                <a:lnTo>
                  <a:pt x="1928984" y="0"/>
                </a:lnTo>
                <a:lnTo>
                  <a:pt x="1961576" y="3899"/>
                </a:lnTo>
                <a:cubicBezTo>
                  <a:pt x="2039523" y="22827"/>
                  <a:pt x="2098157" y="104670"/>
                  <a:pt x="2098157" y="202765"/>
                </a:cubicBezTo>
                <a:lnTo>
                  <a:pt x="2098157" y="702769"/>
                </a:lnTo>
                <a:lnTo>
                  <a:pt x="1594183" y="702769"/>
                </a:lnTo>
                <a:lnTo>
                  <a:pt x="1132" y="702769"/>
                </a:lnTo>
                <a:lnTo>
                  <a:pt x="0" y="702769"/>
                </a:lnTo>
                <a:close/>
              </a:path>
            </a:pathLst>
          </a:custGeom>
          <a:solidFill>
            <a:schemeClr val="tx2"/>
          </a:solidFill>
          <a:ln w="12700">
            <a:solidFill>
              <a:schemeClr val="tx2"/>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966900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792224" y="832104"/>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CC652500-B558-F785-439F-12315F433125}"/>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938A96B1-64D5-11B6-BD02-AD31F317296F}"/>
              </a:ext>
            </a:extLst>
          </p:cNvPr>
          <p:cNvSpPr>
            <a:spLocks noGrp="1"/>
          </p:cNvSpPr>
          <p:nvPr>
            <p:ph type="sldNum" sz="quarter" idx="11"/>
          </p:nvPr>
        </p:nvSpPr>
        <p:spPr/>
        <p:txBody>
          <a:bodyPr/>
          <a:lstStyle/>
          <a:p>
            <a:fld id="{294A09A9-5501-47C1-A89A-A340965A2BE2}" type="slidenum">
              <a:rPr lang="en-US" smtClean="0"/>
              <a:pPr/>
              <a:t>‹#›</a:t>
            </a:fld>
            <a:endParaRPr lang="en-US" dirty="0"/>
          </a:p>
        </p:txBody>
      </p:sp>
      <p:cxnSp>
        <p:nvCxnSpPr>
          <p:cNvPr id="5" name="Straight Connector 4">
            <a:extLst>
              <a:ext uri="{FF2B5EF4-FFF2-40B4-BE49-F238E27FC236}">
                <a16:creationId xmlns:a16="http://schemas.microsoft.com/office/drawing/2014/main" id="{2C883D99-31C6-D5A2-D86A-FC9440CEA769}"/>
              </a:ext>
            </a:extLst>
          </p:cNvPr>
          <p:cNvCxnSpPr>
            <a:cxnSpLocks/>
          </p:cNvCxnSpPr>
          <p:nvPr userDrawn="1"/>
        </p:nvCxnSpPr>
        <p:spPr>
          <a:xfrm>
            <a:off x="1944007" y="3324115"/>
            <a:ext cx="2170451" cy="0"/>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38AB5A6-6184-8A00-738A-9F575C1472CC}"/>
              </a:ext>
            </a:extLst>
          </p:cNvPr>
          <p:cNvCxnSpPr>
            <a:cxnSpLocks/>
          </p:cNvCxnSpPr>
          <p:nvPr userDrawn="1"/>
        </p:nvCxnSpPr>
        <p:spPr>
          <a:xfrm>
            <a:off x="4114458" y="3322646"/>
            <a:ext cx="2171700" cy="0"/>
          </a:xfrm>
          <a:prstGeom prst="line">
            <a:avLst/>
          </a:prstGeom>
          <a:ln w="12700">
            <a:solidFill>
              <a:schemeClr val="accent5"/>
            </a:solidFill>
            <a:prstDash val="soli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0BFB726-8911-1D40-8CAD-0678A3988661}"/>
              </a:ext>
            </a:extLst>
          </p:cNvPr>
          <p:cNvCxnSpPr>
            <a:cxnSpLocks/>
          </p:cNvCxnSpPr>
          <p:nvPr userDrawn="1"/>
        </p:nvCxnSpPr>
        <p:spPr>
          <a:xfrm>
            <a:off x="6286158" y="3322646"/>
            <a:ext cx="2161515" cy="14408"/>
          </a:xfrm>
          <a:prstGeom prst="line">
            <a:avLst/>
          </a:prstGeom>
          <a:ln w="12700">
            <a:solidFill>
              <a:schemeClr val="accent4"/>
            </a:solidFill>
            <a:prstDash val="soli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A06BA5D-5C40-149B-0AE7-118CF43109F3}"/>
              </a:ext>
            </a:extLst>
          </p:cNvPr>
          <p:cNvCxnSpPr>
            <a:cxnSpLocks/>
          </p:cNvCxnSpPr>
          <p:nvPr userDrawn="1"/>
        </p:nvCxnSpPr>
        <p:spPr>
          <a:xfrm>
            <a:off x="8447673" y="3333307"/>
            <a:ext cx="2189197" cy="0"/>
          </a:xfrm>
          <a:prstGeom prst="line">
            <a:avLst/>
          </a:prstGeom>
          <a:ln w="127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0E1F9F84-FEDF-EE4B-151E-0BA753B313F2}"/>
              </a:ext>
            </a:extLst>
          </p:cNvPr>
          <p:cNvSpPr/>
          <p:nvPr userDrawn="1"/>
        </p:nvSpPr>
        <p:spPr>
          <a:xfrm>
            <a:off x="1349145" y="2715964"/>
            <a:ext cx="1218817" cy="121881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B5D1979A-4075-FDBC-DC21-B473A894753D}"/>
              </a:ext>
            </a:extLst>
          </p:cNvPr>
          <p:cNvSpPr/>
          <p:nvPr userDrawn="1"/>
        </p:nvSpPr>
        <p:spPr>
          <a:xfrm>
            <a:off x="3525168" y="2721004"/>
            <a:ext cx="1218817" cy="121881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4253DC90-8B68-11F4-262C-EF788CC251ED}"/>
              </a:ext>
            </a:extLst>
          </p:cNvPr>
          <p:cNvSpPr/>
          <p:nvPr userDrawn="1"/>
        </p:nvSpPr>
        <p:spPr>
          <a:xfrm>
            <a:off x="5704017" y="2716977"/>
            <a:ext cx="1218817" cy="121881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8CEBAA34-A280-D694-891B-142A8D7FA33C}"/>
              </a:ext>
            </a:extLst>
          </p:cNvPr>
          <p:cNvSpPr/>
          <p:nvPr userDrawn="1"/>
        </p:nvSpPr>
        <p:spPr>
          <a:xfrm>
            <a:off x="7847695" y="2726015"/>
            <a:ext cx="1218817" cy="121881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DEC576C9-CAB6-8D5D-5976-B4CC1FB6B5C0}"/>
              </a:ext>
            </a:extLst>
          </p:cNvPr>
          <p:cNvSpPr/>
          <p:nvPr userDrawn="1"/>
        </p:nvSpPr>
        <p:spPr>
          <a:xfrm>
            <a:off x="10049319" y="2718520"/>
            <a:ext cx="1218817" cy="121881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0B3AAAB5-1B7C-5567-E7F2-E97DCAFEA821}"/>
              </a:ext>
            </a:extLst>
          </p:cNvPr>
          <p:cNvSpPr/>
          <p:nvPr userDrawn="1"/>
        </p:nvSpPr>
        <p:spPr>
          <a:xfrm flipH="1">
            <a:off x="1418423" y="278651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C6E861CF-DCF3-E6B9-1438-583DC69FFA06}"/>
              </a:ext>
            </a:extLst>
          </p:cNvPr>
          <p:cNvSpPr/>
          <p:nvPr userDrawn="1"/>
        </p:nvSpPr>
        <p:spPr>
          <a:xfrm flipH="1">
            <a:off x="3593035" y="279155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0F4D24E5-CE49-C81C-1933-88384A77E742}"/>
              </a:ext>
            </a:extLst>
          </p:cNvPr>
          <p:cNvSpPr/>
          <p:nvPr userDrawn="1"/>
        </p:nvSpPr>
        <p:spPr>
          <a:xfrm flipH="1">
            <a:off x="5771884" y="2787528"/>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0F1CA68B-CB89-15A1-13F9-3DD65297D0BD}"/>
              </a:ext>
            </a:extLst>
          </p:cNvPr>
          <p:cNvSpPr/>
          <p:nvPr userDrawn="1"/>
        </p:nvSpPr>
        <p:spPr>
          <a:xfrm flipH="1">
            <a:off x="7915562" y="2796566"/>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3AD773FD-C1E4-FDB0-FDF1-0925375BE2A5}"/>
              </a:ext>
            </a:extLst>
          </p:cNvPr>
          <p:cNvSpPr/>
          <p:nvPr userDrawn="1"/>
        </p:nvSpPr>
        <p:spPr>
          <a:xfrm flipH="1">
            <a:off x="10129886" y="2789071"/>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 Placeholder 11">
            <a:extLst>
              <a:ext uri="{FF2B5EF4-FFF2-40B4-BE49-F238E27FC236}">
                <a16:creationId xmlns:a16="http://schemas.microsoft.com/office/drawing/2014/main" id="{ACA633AF-3209-BF0D-1450-6A91ACC8533F}"/>
              </a:ext>
            </a:extLst>
          </p:cNvPr>
          <p:cNvSpPr>
            <a:spLocks noGrp="1"/>
          </p:cNvSpPr>
          <p:nvPr>
            <p:ph type="body" sz="quarter" idx="12"/>
          </p:nvPr>
        </p:nvSpPr>
        <p:spPr>
          <a:xfrm>
            <a:off x="13807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0" name="Text Placeholder 11">
            <a:extLst>
              <a:ext uri="{FF2B5EF4-FFF2-40B4-BE49-F238E27FC236}">
                <a16:creationId xmlns:a16="http://schemas.microsoft.com/office/drawing/2014/main" id="{F70EFB68-D184-8E31-A027-F291D78776BF}"/>
              </a:ext>
            </a:extLst>
          </p:cNvPr>
          <p:cNvSpPr>
            <a:spLocks noGrp="1"/>
          </p:cNvSpPr>
          <p:nvPr>
            <p:ph type="body" sz="quarter" idx="13"/>
          </p:nvPr>
        </p:nvSpPr>
        <p:spPr>
          <a:xfrm>
            <a:off x="138074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3538728"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3538728"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7241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72414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87298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87298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7" name="Text Placeholder 11">
            <a:extLst>
              <a:ext uri="{FF2B5EF4-FFF2-40B4-BE49-F238E27FC236}">
                <a16:creationId xmlns:a16="http://schemas.microsoft.com/office/drawing/2014/main" id="{BC5472B4-CBBF-AC70-5BA8-A0661E663D4A}"/>
              </a:ext>
            </a:extLst>
          </p:cNvPr>
          <p:cNvSpPr>
            <a:spLocks noGrp="1"/>
          </p:cNvSpPr>
          <p:nvPr>
            <p:ph type="body" sz="quarter" idx="20"/>
          </p:nvPr>
        </p:nvSpPr>
        <p:spPr>
          <a:xfrm>
            <a:off x="10058400"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8" name="Text Placeholder 11">
            <a:extLst>
              <a:ext uri="{FF2B5EF4-FFF2-40B4-BE49-F238E27FC236}">
                <a16:creationId xmlns:a16="http://schemas.microsoft.com/office/drawing/2014/main" id="{C3CEEBDA-7860-91AD-704A-7A540E1E58F7}"/>
              </a:ext>
            </a:extLst>
          </p:cNvPr>
          <p:cNvSpPr>
            <a:spLocks noGrp="1"/>
          </p:cNvSpPr>
          <p:nvPr>
            <p:ph type="body" sz="quarter" idx="21"/>
          </p:nvPr>
        </p:nvSpPr>
        <p:spPr>
          <a:xfrm>
            <a:off x="10058400"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30" name="Picture Placeholder 29">
            <a:extLst>
              <a:ext uri="{FF2B5EF4-FFF2-40B4-BE49-F238E27FC236}">
                <a16:creationId xmlns:a16="http://schemas.microsoft.com/office/drawing/2014/main" id="{DF918527-798D-3B40-E0EA-38C0AEBA6D77}"/>
              </a:ext>
            </a:extLst>
          </p:cNvPr>
          <p:cNvSpPr>
            <a:spLocks noGrp="1"/>
          </p:cNvSpPr>
          <p:nvPr>
            <p:ph type="pic" sz="quarter" idx="22"/>
          </p:nvPr>
        </p:nvSpPr>
        <p:spPr>
          <a:xfrm>
            <a:off x="1648147" y="3018954"/>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1" name="Picture Placeholder 29">
            <a:extLst>
              <a:ext uri="{FF2B5EF4-FFF2-40B4-BE49-F238E27FC236}">
                <a16:creationId xmlns:a16="http://schemas.microsoft.com/office/drawing/2014/main" id="{B0D40292-F2DF-0641-6B78-370AC5C50094}"/>
              </a:ext>
            </a:extLst>
          </p:cNvPr>
          <p:cNvSpPr>
            <a:spLocks noGrp="1"/>
          </p:cNvSpPr>
          <p:nvPr>
            <p:ph type="pic" sz="quarter" idx="23"/>
          </p:nvPr>
        </p:nvSpPr>
        <p:spPr>
          <a:xfrm>
            <a:off x="3805117" y="3011109"/>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2" name="Picture Placeholder 29">
            <a:extLst>
              <a:ext uri="{FF2B5EF4-FFF2-40B4-BE49-F238E27FC236}">
                <a16:creationId xmlns:a16="http://schemas.microsoft.com/office/drawing/2014/main" id="{503DD6AB-C9B3-EBD7-080A-FB219B381225}"/>
              </a:ext>
            </a:extLst>
          </p:cNvPr>
          <p:cNvSpPr>
            <a:spLocks noGrp="1"/>
          </p:cNvSpPr>
          <p:nvPr>
            <p:ph type="pic" sz="quarter" idx="24"/>
          </p:nvPr>
        </p:nvSpPr>
        <p:spPr>
          <a:xfrm>
            <a:off x="5995989" y="3026158"/>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3" name="Picture Placeholder 29">
            <a:extLst>
              <a:ext uri="{FF2B5EF4-FFF2-40B4-BE49-F238E27FC236}">
                <a16:creationId xmlns:a16="http://schemas.microsoft.com/office/drawing/2014/main" id="{E61A9741-3B1C-111D-B260-CF7E7F223F82}"/>
              </a:ext>
            </a:extLst>
          </p:cNvPr>
          <p:cNvSpPr>
            <a:spLocks noGrp="1"/>
          </p:cNvSpPr>
          <p:nvPr>
            <p:ph type="pic" sz="quarter" idx="25"/>
          </p:nvPr>
        </p:nvSpPr>
        <p:spPr>
          <a:xfrm>
            <a:off x="8146207" y="3011109"/>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4" name="Picture Placeholder 29">
            <a:extLst>
              <a:ext uri="{FF2B5EF4-FFF2-40B4-BE49-F238E27FC236}">
                <a16:creationId xmlns:a16="http://schemas.microsoft.com/office/drawing/2014/main" id="{E49C1AE1-BC78-2CE3-D292-61496AC727DE}"/>
              </a:ext>
            </a:extLst>
          </p:cNvPr>
          <p:cNvSpPr>
            <a:spLocks noGrp="1"/>
          </p:cNvSpPr>
          <p:nvPr>
            <p:ph type="pic" sz="quarter" idx="26"/>
          </p:nvPr>
        </p:nvSpPr>
        <p:spPr>
          <a:xfrm>
            <a:off x="10347831" y="3017032"/>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29" name="Text Placeholder 11">
            <a:extLst>
              <a:ext uri="{FF2B5EF4-FFF2-40B4-BE49-F238E27FC236}">
                <a16:creationId xmlns:a16="http://schemas.microsoft.com/office/drawing/2014/main" id="{3B71C9DC-B9E5-6C34-B451-BA2224CCDDE0}"/>
              </a:ext>
            </a:extLst>
          </p:cNvPr>
          <p:cNvSpPr>
            <a:spLocks noGrp="1"/>
          </p:cNvSpPr>
          <p:nvPr>
            <p:ph type="body" sz="quarter" idx="28"/>
          </p:nvPr>
        </p:nvSpPr>
        <p:spPr>
          <a:xfrm>
            <a:off x="2350008" y="4279392"/>
            <a:ext cx="146304" cy="146304"/>
          </a:xfrm>
          <a:prstGeom prst="ellipse">
            <a:avLst/>
          </a:prstGeom>
          <a:solidFill>
            <a:schemeClr val="accent6"/>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6" name="Text Placeholder 11">
            <a:extLst>
              <a:ext uri="{FF2B5EF4-FFF2-40B4-BE49-F238E27FC236}">
                <a16:creationId xmlns:a16="http://schemas.microsoft.com/office/drawing/2014/main" id="{0596D87F-0114-685D-7F97-873DBA557947}"/>
              </a:ext>
            </a:extLst>
          </p:cNvPr>
          <p:cNvSpPr>
            <a:spLocks noGrp="1"/>
          </p:cNvSpPr>
          <p:nvPr>
            <p:ph type="body" sz="quarter" idx="29"/>
          </p:nvPr>
        </p:nvSpPr>
        <p:spPr>
          <a:xfrm>
            <a:off x="4517136" y="4279392"/>
            <a:ext cx="146304" cy="146304"/>
          </a:xfrm>
          <a:prstGeom prst="ellipse">
            <a:avLst/>
          </a:prstGeom>
          <a:solidFill>
            <a:schemeClr val="accent5"/>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7" name="Text Placeholder 11">
            <a:extLst>
              <a:ext uri="{FF2B5EF4-FFF2-40B4-BE49-F238E27FC236}">
                <a16:creationId xmlns:a16="http://schemas.microsoft.com/office/drawing/2014/main" id="{5D4E3F00-5755-F2EF-97C8-0FE775CAE04E}"/>
              </a:ext>
            </a:extLst>
          </p:cNvPr>
          <p:cNvSpPr>
            <a:spLocks noGrp="1"/>
          </p:cNvSpPr>
          <p:nvPr>
            <p:ph type="body" sz="quarter" idx="30"/>
          </p:nvPr>
        </p:nvSpPr>
        <p:spPr>
          <a:xfrm>
            <a:off x="6702552" y="4279392"/>
            <a:ext cx="146304" cy="146304"/>
          </a:xfrm>
          <a:prstGeom prst="ellipse">
            <a:avLst/>
          </a:prstGeom>
          <a:solidFill>
            <a:schemeClr val="accent4"/>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8" name="Text Placeholder 11">
            <a:extLst>
              <a:ext uri="{FF2B5EF4-FFF2-40B4-BE49-F238E27FC236}">
                <a16:creationId xmlns:a16="http://schemas.microsoft.com/office/drawing/2014/main" id="{29543A01-39BF-D362-26F8-BD1E7D0D3C86}"/>
              </a:ext>
            </a:extLst>
          </p:cNvPr>
          <p:cNvSpPr>
            <a:spLocks noGrp="1"/>
          </p:cNvSpPr>
          <p:nvPr>
            <p:ph type="body" sz="quarter" idx="31"/>
          </p:nvPr>
        </p:nvSpPr>
        <p:spPr>
          <a:xfrm>
            <a:off x="8842248" y="4279392"/>
            <a:ext cx="146304" cy="146304"/>
          </a:xfrm>
          <a:prstGeom prst="ellipse">
            <a:avLst/>
          </a:prstGeom>
          <a:solidFill>
            <a:schemeClr val="accent2"/>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9" name="Text Placeholder 11">
            <a:extLst>
              <a:ext uri="{FF2B5EF4-FFF2-40B4-BE49-F238E27FC236}">
                <a16:creationId xmlns:a16="http://schemas.microsoft.com/office/drawing/2014/main" id="{BB6B72CD-75B9-D90F-4767-2141AEF3B201}"/>
              </a:ext>
            </a:extLst>
          </p:cNvPr>
          <p:cNvSpPr>
            <a:spLocks noGrp="1"/>
          </p:cNvSpPr>
          <p:nvPr>
            <p:ph type="body" sz="quarter" idx="32"/>
          </p:nvPr>
        </p:nvSpPr>
        <p:spPr>
          <a:xfrm>
            <a:off x="11055096" y="4279392"/>
            <a:ext cx="146304" cy="146304"/>
          </a:xfrm>
          <a:prstGeom prst="ellipse">
            <a:avLst/>
          </a:prstGeom>
          <a:solidFill>
            <a:schemeClr val="accent1"/>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Tree>
    <p:extLst>
      <p:ext uri="{BB962C8B-B14F-4D97-AF65-F5344CB8AC3E}">
        <p14:creationId xmlns:p14="http://schemas.microsoft.com/office/powerpoint/2010/main" val="1290831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10">
            <a:extLst>
              <a:ext uri="{FF2B5EF4-FFF2-40B4-BE49-F238E27FC236}">
                <a16:creationId xmlns:a16="http://schemas.microsoft.com/office/drawing/2014/main" id="{89A27E14-C943-C294-334B-4D6A7500F3B5}"/>
              </a:ext>
            </a:extLst>
          </p:cNvPr>
          <p:cNvSpPr/>
          <p:nvPr userDrawn="1"/>
        </p:nvSpPr>
        <p:spPr>
          <a:xfrm rot="5400000">
            <a:off x="7383937" y="2039848"/>
            <a:ext cx="6858000" cy="2778304"/>
          </a:xfrm>
          <a:custGeom>
            <a:avLst/>
            <a:gdLst>
              <a:gd name="connsiteX0" fmla="*/ 0 w 6858000"/>
              <a:gd name="connsiteY0" fmla="*/ 1050199 h 2778304"/>
              <a:gd name="connsiteX1" fmla="*/ 0 w 6858000"/>
              <a:gd name="connsiteY1" fmla="*/ 0 h 2778304"/>
              <a:gd name="connsiteX2" fmla="*/ 6858000 w 6858000"/>
              <a:gd name="connsiteY2" fmla="*/ 0 h 2778304"/>
              <a:gd name="connsiteX3" fmla="*/ 6858000 w 6858000"/>
              <a:gd name="connsiteY3" fmla="*/ 1193215 h 2778304"/>
              <a:gd name="connsiteX4" fmla="*/ 6790588 w 6858000"/>
              <a:gd name="connsiteY4" fmla="*/ 1211701 h 2778304"/>
              <a:gd name="connsiteX5" fmla="*/ 3050431 w 6858000"/>
              <a:gd name="connsiteY5" fmla="*/ 2778245 h 2778304"/>
              <a:gd name="connsiteX6" fmla="*/ 37813 w 6858000"/>
              <a:gd name="connsiteY6" fmla="*/ 1183549 h 2778304"/>
              <a:gd name="connsiteX7" fmla="*/ 0 w 6858000"/>
              <a:gd name="connsiteY7" fmla="*/ 1050199 h 277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2778304">
                <a:moveTo>
                  <a:pt x="0" y="1050199"/>
                </a:moveTo>
                <a:lnTo>
                  <a:pt x="0" y="0"/>
                </a:lnTo>
                <a:lnTo>
                  <a:pt x="6858000" y="0"/>
                </a:lnTo>
                <a:lnTo>
                  <a:pt x="6858000" y="1193215"/>
                </a:lnTo>
                <a:lnTo>
                  <a:pt x="6790588" y="1211701"/>
                </a:lnTo>
                <a:cubicBezTo>
                  <a:pt x="5439260" y="1649845"/>
                  <a:pt x="4603740" y="2770251"/>
                  <a:pt x="3050431" y="2778245"/>
                </a:cubicBezTo>
                <a:cubicBezTo>
                  <a:pt x="1377637" y="2786855"/>
                  <a:pt x="283199" y="1854180"/>
                  <a:pt x="37813" y="1183549"/>
                </a:cubicBezTo>
                <a:lnTo>
                  <a:pt x="0" y="1050199"/>
                </a:lnTo>
                <a:close/>
              </a:path>
            </a:pathLst>
          </a:custGeom>
          <a:gradFill flip="none" rotWithShape="1">
            <a:gsLst>
              <a:gs pos="26000">
                <a:schemeClr val="accent3">
                  <a:lumMod val="25000"/>
                </a:schemeClr>
              </a:gs>
              <a:gs pos="73000">
                <a:schemeClr val="accent1">
                  <a:alpha val="33146"/>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11">
            <a:extLst>
              <a:ext uri="{FF2B5EF4-FFF2-40B4-BE49-F238E27FC236}">
                <a16:creationId xmlns:a16="http://schemas.microsoft.com/office/drawing/2014/main" id="{BE5C5BCA-F960-4024-7215-2D2EFD0FEBF3}"/>
              </a:ext>
            </a:extLst>
          </p:cNvPr>
          <p:cNvSpPr/>
          <p:nvPr userDrawn="1"/>
        </p:nvSpPr>
        <p:spPr>
          <a:xfrm rot="16200000" flipV="1">
            <a:off x="7907199" y="2573198"/>
            <a:ext cx="6858000" cy="1711602"/>
          </a:xfrm>
          <a:custGeom>
            <a:avLst/>
            <a:gdLst>
              <a:gd name="connsiteX0" fmla="*/ 6858000 w 6858000"/>
              <a:gd name="connsiteY0" fmla="*/ 1010661 h 1711602"/>
              <a:gd name="connsiteX1" fmla="*/ 6858000 w 6858000"/>
              <a:gd name="connsiteY1" fmla="*/ 0 h 1711602"/>
              <a:gd name="connsiteX2" fmla="*/ 0 w 6858000"/>
              <a:gd name="connsiteY2" fmla="*/ 0 h 1711602"/>
              <a:gd name="connsiteX3" fmla="*/ 0 w 6858000"/>
              <a:gd name="connsiteY3" fmla="*/ 983884 h 1711602"/>
              <a:gd name="connsiteX4" fmla="*/ 11078 w 6858000"/>
              <a:gd name="connsiteY4" fmla="*/ 997657 h 1711602"/>
              <a:gd name="connsiteX5" fmla="*/ 1866819 w 6858000"/>
              <a:gd name="connsiteY5" fmla="*/ 1711565 h 1711602"/>
              <a:gd name="connsiteX6" fmla="*/ 5098965 w 6858000"/>
              <a:gd name="connsiteY6" fmla="*/ 622006 h 1711602"/>
              <a:gd name="connsiteX7" fmla="*/ 6746500 w 6858000"/>
              <a:gd name="connsiteY7" fmla="*/ 959665 h 1711602"/>
              <a:gd name="connsiteX8" fmla="*/ 6858000 w 6858000"/>
              <a:gd name="connsiteY8" fmla="*/ 1010661 h 1711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1711602">
                <a:moveTo>
                  <a:pt x="6858000" y="1010661"/>
                </a:moveTo>
                <a:lnTo>
                  <a:pt x="6858000" y="0"/>
                </a:lnTo>
                <a:lnTo>
                  <a:pt x="0" y="0"/>
                </a:lnTo>
                <a:lnTo>
                  <a:pt x="0" y="983884"/>
                </a:lnTo>
                <a:lnTo>
                  <a:pt x="11078" y="997657"/>
                </a:lnTo>
                <a:cubicBezTo>
                  <a:pt x="328616" y="1355920"/>
                  <a:pt x="976833" y="1715803"/>
                  <a:pt x="1866819" y="1711565"/>
                </a:cubicBezTo>
                <a:cubicBezTo>
                  <a:pt x="3161344" y="1705400"/>
                  <a:pt x="3719617" y="643352"/>
                  <a:pt x="5098965" y="622006"/>
                </a:cubicBezTo>
                <a:cubicBezTo>
                  <a:pt x="5788640" y="611332"/>
                  <a:pt x="6326795" y="775968"/>
                  <a:pt x="6746500" y="959665"/>
                </a:cubicBezTo>
                <a:lnTo>
                  <a:pt x="6858000" y="1010661"/>
                </a:lnTo>
                <a:close/>
              </a:path>
            </a:pathLst>
          </a:custGeom>
          <a:gradFill>
            <a:gsLst>
              <a:gs pos="79000">
                <a:schemeClr val="accent4">
                  <a:lumMod val="75000"/>
                  <a:alpha val="79763"/>
                </a:schemeClr>
              </a:gs>
              <a:gs pos="37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13">
            <a:extLst>
              <a:ext uri="{FF2B5EF4-FFF2-40B4-BE49-F238E27FC236}">
                <a16:creationId xmlns:a16="http://schemas.microsoft.com/office/drawing/2014/main" id="{6F62D03F-D065-13FE-5D30-58C2523BD14D}"/>
              </a:ext>
            </a:extLst>
          </p:cNvPr>
          <p:cNvSpPr/>
          <p:nvPr userDrawn="1"/>
        </p:nvSpPr>
        <p:spPr>
          <a:xfrm rot="5400000">
            <a:off x="7877130" y="2543131"/>
            <a:ext cx="6858001" cy="1771739"/>
          </a:xfrm>
          <a:custGeom>
            <a:avLst/>
            <a:gdLst>
              <a:gd name="connsiteX0" fmla="*/ 0 w 6858001"/>
              <a:gd name="connsiteY0" fmla="*/ 1273784 h 1771739"/>
              <a:gd name="connsiteX1" fmla="*/ 0 w 6858001"/>
              <a:gd name="connsiteY1" fmla="*/ 0 h 1771739"/>
              <a:gd name="connsiteX2" fmla="*/ 6858001 w 6858001"/>
              <a:gd name="connsiteY2" fmla="*/ 0 h 1771739"/>
              <a:gd name="connsiteX3" fmla="*/ 6858001 w 6858001"/>
              <a:gd name="connsiteY3" fmla="*/ 34923 h 1771739"/>
              <a:gd name="connsiteX4" fmla="*/ 6735259 w 6858001"/>
              <a:gd name="connsiteY4" fmla="*/ 32862 h 1771739"/>
              <a:gd name="connsiteX5" fmla="*/ 1961998 w 6858001"/>
              <a:gd name="connsiteY5" fmla="*/ 1771680 h 1771739"/>
              <a:gd name="connsiteX6" fmla="*/ 151257 w 6858001"/>
              <a:gd name="connsiteY6" fmla="*/ 1358806 h 1771739"/>
              <a:gd name="connsiteX7" fmla="*/ 0 w 6858001"/>
              <a:gd name="connsiteY7" fmla="*/ 1273784 h 1771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1" h="1771739">
                <a:moveTo>
                  <a:pt x="0" y="1273784"/>
                </a:moveTo>
                <a:lnTo>
                  <a:pt x="0" y="0"/>
                </a:lnTo>
                <a:lnTo>
                  <a:pt x="6858001" y="0"/>
                </a:lnTo>
                <a:lnTo>
                  <a:pt x="6858001" y="34923"/>
                </a:lnTo>
                <a:lnTo>
                  <a:pt x="6735259" y="32862"/>
                </a:lnTo>
                <a:cubicBezTo>
                  <a:pt x="4698226" y="66929"/>
                  <a:pt x="3873763" y="1761840"/>
                  <a:pt x="1961998" y="1771680"/>
                </a:cubicBezTo>
                <a:cubicBezTo>
                  <a:pt x="1245087" y="1775370"/>
                  <a:pt x="634403" y="1606171"/>
                  <a:pt x="151257" y="1358806"/>
                </a:cubicBezTo>
                <a:lnTo>
                  <a:pt x="0" y="1273784"/>
                </a:lnTo>
                <a:close/>
              </a:path>
            </a:pathLst>
          </a:custGeom>
          <a:gradFill>
            <a:gsLst>
              <a:gs pos="32000">
                <a:schemeClr val="tx2">
                  <a:alpha val="48229"/>
                </a:schemeClr>
              </a:gs>
              <a:gs pos="100000">
                <a:schemeClr val="accent6">
                  <a:alpha val="4858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a:t>Click to edit Master title style</a:t>
            </a:r>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536192" y="2185416"/>
            <a:ext cx="3621024"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536192" y="2743200"/>
            <a:ext cx="3621024"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5541264" y="2185416"/>
            <a:ext cx="3621024"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5541264" y="2743200"/>
            <a:ext cx="3621024"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Crypto: investing &amp; trading</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062460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Three Column">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id="{C4226C42-B02E-1D4B-77B4-BF0257C6041E}"/>
              </a:ext>
            </a:extLst>
          </p:cNvPr>
          <p:cNvSpPr/>
          <p:nvPr userDrawn="1"/>
        </p:nvSpPr>
        <p:spPr>
          <a:xfrm>
            <a:off x="19485" y="0"/>
            <a:ext cx="6721146" cy="6858000"/>
          </a:xfrm>
          <a:custGeom>
            <a:avLst/>
            <a:gdLst>
              <a:gd name="connsiteX0" fmla="*/ 0 w 6721146"/>
              <a:gd name="connsiteY0" fmla="*/ 0 h 6858000"/>
              <a:gd name="connsiteX1" fmla="*/ 399503 w 6721146"/>
              <a:gd name="connsiteY1" fmla="*/ 0 h 6858000"/>
              <a:gd name="connsiteX2" fmla="*/ 395119 w 6721146"/>
              <a:gd name="connsiteY2" fmla="*/ 19864 h 6858000"/>
              <a:gd name="connsiteX3" fmla="*/ 244176 w 6721146"/>
              <a:gd name="connsiteY3" fmla="*/ 529296 h 6858000"/>
              <a:gd name="connsiteX4" fmla="*/ 993095 w 6721146"/>
              <a:gd name="connsiteY4" fmla="*/ 5197987 h 6858000"/>
              <a:gd name="connsiteX5" fmla="*/ 4989455 w 6721146"/>
              <a:gd name="connsiteY5" fmla="*/ 6468602 h 6858000"/>
              <a:gd name="connsiteX6" fmla="*/ 6648701 w 6721146"/>
              <a:gd name="connsiteY6" fmla="*/ 6787937 h 6858000"/>
              <a:gd name="connsiteX7" fmla="*/ 6721146 w 6721146"/>
              <a:gd name="connsiteY7" fmla="*/ 6858000 h 6858000"/>
              <a:gd name="connsiteX8" fmla="*/ 0 w 6721146"/>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21146" h="6858000">
                <a:moveTo>
                  <a:pt x="0" y="0"/>
                </a:moveTo>
                <a:lnTo>
                  <a:pt x="399503" y="0"/>
                </a:lnTo>
                <a:lnTo>
                  <a:pt x="395119" y="19864"/>
                </a:lnTo>
                <a:cubicBezTo>
                  <a:pt x="355531" y="180505"/>
                  <a:pt x="305509" y="350292"/>
                  <a:pt x="244176" y="529296"/>
                </a:cubicBezTo>
                <a:cubicBezTo>
                  <a:pt x="-223599" y="2697668"/>
                  <a:pt x="276778" y="4254046"/>
                  <a:pt x="993095" y="5197987"/>
                </a:cubicBezTo>
                <a:cubicBezTo>
                  <a:pt x="1709415" y="6141924"/>
                  <a:pt x="3704883" y="6653220"/>
                  <a:pt x="4989455" y="6468602"/>
                </a:cubicBezTo>
                <a:cubicBezTo>
                  <a:pt x="5774573" y="6353740"/>
                  <a:pt x="6315041" y="6502080"/>
                  <a:pt x="6648701" y="6787937"/>
                </a:cubicBezTo>
                <a:lnTo>
                  <a:pt x="6721146" y="6858000"/>
                </a:lnTo>
                <a:lnTo>
                  <a:pt x="0" y="6858000"/>
                </a:lnTo>
                <a:close/>
              </a:path>
            </a:pathLst>
          </a:custGeom>
          <a:gradFill flip="none" rotWithShape="1">
            <a:gsLst>
              <a:gs pos="73000">
                <a:schemeClr val="accent3">
                  <a:lumMod val="25000"/>
                </a:schemeClr>
              </a:gs>
              <a:gs pos="0">
                <a:schemeClr val="accent1">
                  <a:alpha val="2964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8" name="Freeform: Shape 17">
            <a:extLst>
              <a:ext uri="{FF2B5EF4-FFF2-40B4-BE49-F238E27FC236}">
                <a16:creationId xmlns:a16="http://schemas.microsoft.com/office/drawing/2014/main" id="{260C6EA0-9137-97A8-7C78-0FCD8675F1B0}"/>
              </a:ext>
            </a:extLst>
          </p:cNvPr>
          <p:cNvSpPr/>
          <p:nvPr userDrawn="1"/>
        </p:nvSpPr>
        <p:spPr>
          <a:xfrm>
            <a:off x="8497" y="7662"/>
            <a:ext cx="4591137" cy="3588767"/>
          </a:xfrm>
          <a:custGeom>
            <a:avLst/>
            <a:gdLst>
              <a:gd name="connsiteX0" fmla="*/ 0 w 4591137"/>
              <a:gd name="connsiteY0" fmla="*/ 0 h 3588767"/>
              <a:gd name="connsiteX1" fmla="*/ 4591137 w 4591137"/>
              <a:gd name="connsiteY1" fmla="*/ 0 h 3588767"/>
              <a:gd name="connsiteX2" fmla="*/ 4458037 w 4591137"/>
              <a:gd name="connsiteY2" fmla="*/ 139038 h 3588767"/>
              <a:gd name="connsiteX3" fmla="*/ 3406398 w 4591137"/>
              <a:gd name="connsiteY3" fmla="*/ 1512312 h 3588767"/>
              <a:gd name="connsiteX4" fmla="*/ 202105 w 4591137"/>
              <a:gd name="connsiteY4" fmla="*/ 3554432 h 3588767"/>
              <a:gd name="connsiteX5" fmla="*/ 0 w 4591137"/>
              <a:gd name="connsiteY5" fmla="*/ 3506319 h 3588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91137" h="3588767">
                <a:moveTo>
                  <a:pt x="0" y="0"/>
                </a:moveTo>
                <a:lnTo>
                  <a:pt x="4591137" y="0"/>
                </a:lnTo>
                <a:lnTo>
                  <a:pt x="4458037" y="139038"/>
                </a:lnTo>
                <a:cubicBezTo>
                  <a:pt x="4038035" y="589101"/>
                  <a:pt x="3677988" y="1055885"/>
                  <a:pt x="3406398" y="1512312"/>
                </a:cubicBezTo>
                <a:cubicBezTo>
                  <a:pt x="2398561" y="3215836"/>
                  <a:pt x="1221089" y="3736280"/>
                  <a:pt x="202105" y="3554432"/>
                </a:cubicBezTo>
                <a:lnTo>
                  <a:pt x="0" y="3506319"/>
                </a:lnTo>
                <a:close/>
              </a:path>
            </a:pathLst>
          </a:custGeom>
          <a:gradFill flip="none" rotWithShape="1">
            <a:gsLst>
              <a:gs pos="0">
                <a:schemeClr val="accent3">
                  <a:lumMod val="25000"/>
                  <a:alpha val="55687"/>
                </a:schemeClr>
              </a:gs>
              <a:gs pos="99000">
                <a:schemeClr val="accent1">
                  <a:lumMod val="60000"/>
                  <a:lumOff val="40000"/>
                  <a:alpha val="20003"/>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4" name="Freeform 24">
            <a:extLst>
              <a:ext uri="{FF2B5EF4-FFF2-40B4-BE49-F238E27FC236}">
                <a16:creationId xmlns:a16="http://schemas.microsoft.com/office/drawing/2014/main" id="{2698A246-2716-9361-4EDE-2498058A4C3A}"/>
              </a:ext>
            </a:extLst>
          </p:cNvPr>
          <p:cNvSpPr/>
          <p:nvPr userDrawn="1"/>
        </p:nvSpPr>
        <p:spPr>
          <a:xfrm>
            <a:off x="0" y="0"/>
            <a:ext cx="1893320" cy="2085274"/>
          </a:xfrm>
          <a:custGeom>
            <a:avLst/>
            <a:gdLst>
              <a:gd name="connsiteX0" fmla="*/ 0 w 1893320"/>
              <a:gd name="connsiteY0" fmla="*/ 0 h 2085274"/>
              <a:gd name="connsiteX1" fmla="*/ 1893320 w 1893320"/>
              <a:gd name="connsiteY1" fmla="*/ 0 h 2085274"/>
              <a:gd name="connsiteX2" fmla="*/ 1836420 w 1893320"/>
              <a:gd name="connsiteY2" fmla="*/ 89992 h 2085274"/>
              <a:gd name="connsiteX3" fmla="*/ 1471130 w 1893320"/>
              <a:gd name="connsiteY3" fmla="*/ 883842 h 2085274"/>
              <a:gd name="connsiteX4" fmla="*/ 90049 w 1893320"/>
              <a:gd name="connsiteY4" fmla="*/ 2071651 h 2085274"/>
              <a:gd name="connsiteX5" fmla="*/ 0 w 1893320"/>
              <a:gd name="connsiteY5" fmla="*/ 2052168 h 2085274"/>
              <a:gd name="connsiteX6" fmla="*/ 0 w 1893320"/>
              <a:gd name="connsiteY6" fmla="*/ 0 h 208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3320" h="2085274">
                <a:moveTo>
                  <a:pt x="0" y="0"/>
                </a:moveTo>
                <a:lnTo>
                  <a:pt x="1893320" y="0"/>
                </a:lnTo>
                <a:lnTo>
                  <a:pt x="1836420" y="89992"/>
                </a:lnTo>
                <a:cubicBezTo>
                  <a:pt x="1676137" y="357859"/>
                  <a:pt x="1549717" y="629674"/>
                  <a:pt x="1471130" y="883842"/>
                </a:cubicBezTo>
                <a:cubicBezTo>
                  <a:pt x="1174602" y="1851540"/>
                  <a:pt x="614067" y="2156914"/>
                  <a:pt x="90049" y="2071651"/>
                </a:cubicBezTo>
                <a:lnTo>
                  <a:pt x="0" y="2052168"/>
                </a:lnTo>
                <a:lnTo>
                  <a:pt x="0" y="0"/>
                </a:lnTo>
                <a:close/>
              </a:path>
            </a:pathLst>
          </a:custGeom>
          <a:solidFill>
            <a:schemeClr val="accent5">
              <a:lumMod val="50000"/>
              <a:alpha val="1074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Shape 22">
            <a:extLst>
              <a:ext uri="{FF2B5EF4-FFF2-40B4-BE49-F238E27FC236}">
                <a16:creationId xmlns:a16="http://schemas.microsoft.com/office/drawing/2014/main" id="{F9A7DD52-C2B0-2B91-92C0-905899BB578D}"/>
              </a:ext>
            </a:extLst>
          </p:cNvPr>
          <p:cNvSpPr/>
          <p:nvPr userDrawn="1"/>
        </p:nvSpPr>
        <p:spPr>
          <a:xfrm>
            <a:off x="2" y="5262792"/>
            <a:ext cx="2809260" cy="1595208"/>
          </a:xfrm>
          <a:custGeom>
            <a:avLst/>
            <a:gdLst>
              <a:gd name="connsiteX0" fmla="*/ 0 w 2809260"/>
              <a:gd name="connsiteY0" fmla="*/ 0 h 1595208"/>
              <a:gd name="connsiteX1" fmla="*/ 101140 w 2809260"/>
              <a:gd name="connsiteY1" fmla="*/ 117015 h 1595208"/>
              <a:gd name="connsiteX2" fmla="*/ 2208849 w 2809260"/>
              <a:gd name="connsiteY2" fmla="*/ 1381471 h 1595208"/>
              <a:gd name="connsiteX3" fmla="*/ 2746965 w 2809260"/>
              <a:gd name="connsiteY3" fmla="*/ 1562268 h 1595208"/>
              <a:gd name="connsiteX4" fmla="*/ 2809260 w 2809260"/>
              <a:gd name="connsiteY4" fmla="*/ 1595208 h 1595208"/>
              <a:gd name="connsiteX5" fmla="*/ 0 w 2809260"/>
              <a:gd name="connsiteY5" fmla="*/ 1595207 h 1595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09260" h="1595208">
                <a:moveTo>
                  <a:pt x="0" y="0"/>
                </a:moveTo>
                <a:lnTo>
                  <a:pt x="101140" y="117015"/>
                </a:lnTo>
                <a:cubicBezTo>
                  <a:pt x="653434" y="714877"/>
                  <a:pt x="1509442" y="1220329"/>
                  <a:pt x="2208849" y="1381471"/>
                </a:cubicBezTo>
                <a:cubicBezTo>
                  <a:pt x="2416303" y="1428716"/>
                  <a:pt x="2594874" y="1490011"/>
                  <a:pt x="2746965" y="1562268"/>
                </a:cubicBezTo>
                <a:lnTo>
                  <a:pt x="2809260" y="1595208"/>
                </a:lnTo>
                <a:lnTo>
                  <a:pt x="0" y="1595207"/>
                </a:lnTo>
                <a:close/>
              </a:path>
            </a:pathLst>
          </a:custGeom>
          <a:gradFill flip="none" rotWithShape="1">
            <a:gsLst>
              <a:gs pos="98000">
                <a:schemeClr val="accent5">
                  <a:lumMod val="50000"/>
                  <a:alpha val="67000"/>
                </a:schemeClr>
              </a:gs>
              <a:gs pos="0">
                <a:schemeClr val="accent6">
                  <a:alpha val="4500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6" name="Freeform 29">
            <a:extLst>
              <a:ext uri="{FF2B5EF4-FFF2-40B4-BE49-F238E27FC236}">
                <a16:creationId xmlns:a16="http://schemas.microsoft.com/office/drawing/2014/main" id="{73541AB3-4000-4259-4112-06DA0F0728A5}"/>
              </a:ext>
            </a:extLst>
          </p:cNvPr>
          <p:cNvSpPr/>
          <p:nvPr userDrawn="1"/>
        </p:nvSpPr>
        <p:spPr>
          <a:xfrm>
            <a:off x="10193397" y="2730129"/>
            <a:ext cx="1979119" cy="4127871"/>
          </a:xfrm>
          <a:custGeom>
            <a:avLst/>
            <a:gdLst>
              <a:gd name="connsiteX0" fmla="*/ 1979119 w 1979119"/>
              <a:gd name="connsiteY0" fmla="*/ 0 h 4127871"/>
              <a:gd name="connsiteX1" fmla="*/ 1979119 w 1979119"/>
              <a:gd name="connsiteY1" fmla="*/ 4127871 h 4127871"/>
              <a:gd name="connsiteX2" fmla="*/ 0 w 1979119"/>
              <a:gd name="connsiteY2" fmla="*/ 4127871 h 4127871"/>
              <a:gd name="connsiteX3" fmla="*/ 113381 w 1979119"/>
              <a:gd name="connsiteY3" fmla="*/ 3939685 h 4127871"/>
              <a:gd name="connsiteX4" fmla="*/ 893390 w 1979119"/>
              <a:gd name="connsiteY4" fmla="*/ 1926136 h 4127871"/>
              <a:gd name="connsiteX5" fmla="*/ 1827429 w 1979119"/>
              <a:gd name="connsiteY5" fmla="*/ 103152 h 4127871"/>
              <a:gd name="connsiteX6" fmla="*/ 1979119 w 1979119"/>
              <a:gd name="connsiteY6" fmla="*/ 0 h 412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9119" h="4127871">
                <a:moveTo>
                  <a:pt x="1979119" y="0"/>
                </a:moveTo>
                <a:lnTo>
                  <a:pt x="1979119" y="4127871"/>
                </a:lnTo>
                <a:lnTo>
                  <a:pt x="0" y="4127871"/>
                </a:lnTo>
                <a:lnTo>
                  <a:pt x="113381" y="3939685"/>
                </a:lnTo>
                <a:cubicBezTo>
                  <a:pt x="496433" y="3268400"/>
                  <a:pt x="776925" y="2555572"/>
                  <a:pt x="893390" y="1926136"/>
                </a:cubicBezTo>
                <a:cubicBezTo>
                  <a:pt x="1059875" y="1013485"/>
                  <a:pt x="1404160" y="429246"/>
                  <a:pt x="1827429" y="103152"/>
                </a:cubicBezTo>
                <a:lnTo>
                  <a:pt x="1979119" y="0"/>
                </a:lnTo>
                <a:close/>
              </a:path>
            </a:pathLst>
          </a:custGeom>
          <a:gradFill>
            <a:gsLst>
              <a:gs pos="83000">
                <a:schemeClr val="accent5">
                  <a:lumMod val="58000"/>
                  <a:alpha val="35019"/>
                </a:schemeClr>
              </a:gs>
              <a:gs pos="0">
                <a:schemeClr val="accent6">
                  <a:lumMod val="89923"/>
                  <a:lumOff val="10077"/>
                  <a:alpha val="3555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536192"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536192"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4754880"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4754880"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Crypto: investing &amp; trading</a:t>
            </a:r>
            <a:endParaRPr lang="en-US" dirty="0"/>
          </a:p>
        </p:txBody>
      </p:sp>
      <p:cxnSp>
        <p:nvCxnSpPr>
          <p:cNvPr id="21" name="Straight Connector 20">
            <a:extLst>
              <a:ext uri="{FF2B5EF4-FFF2-40B4-BE49-F238E27FC236}">
                <a16:creationId xmlns:a16="http://schemas.microsoft.com/office/drawing/2014/main" id="{DC963910-7C6F-7474-84FF-C53D235027B8}"/>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4" name="Text Placeholder 4">
            <a:extLst>
              <a:ext uri="{FF2B5EF4-FFF2-40B4-BE49-F238E27FC236}">
                <a16:creationId xmlns:a16="http://schemas.microsoft.com/office/drawing/2014/main" id="{43CEC7BC-C46D-D3AD-22D8-8737322B7E20}"/>
              </a:ext>
            </a:extLst>
          </p:cNvPr>
          <p:cNvSpPr>
            <a:spLocks noGrp="1"/>
          </p:cNvSpPr>
          <p:nvPr>
            <p:ph type="body" sz="quarter" idx="13"/>
          </p:nvPr>
        </p:nvSpPr>
        <p:spPr>
          <a:xfrm>
            <a:off x="7973568"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Content Placeholder 5">
            <a:extLst>
              <a:ext uri="{FF2B5EF4-FFF2-40B4-BE49-F238E27FC236}">
                <a16:creationId xmlns:a16="http://schemas.microsoft.com/office/drawing/2014/main" id="{658FA801-D400-D7FB-6241-4A41BBAAA0D1}"/>
              </a:ext>
            </a:extLst>
          </p:cNvPr>
          <p:cNvSpPr>
            <a:spLocks noGrp="1"/>
          </p:cNvSpPr>
          <p:nvPr>
            <p:ph sz="quarter" idx="14"/>
          </p:nvPr>
        </p:nvSpPr>
        <p:spPr>
          <a:xfrm>
            <a:off x="7973568"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03394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832104"/>
            <a:ext cx="8878824" cy="1069848"/>
          </a:xfrm>
        </p:spPr>
        <p:txBody>
          <a:bodyPr anchor="b"/>
          <a:lstStyle>
            <a:lvl1pPr algn="ctr">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5" name="Oval 4">
            <a:extLst>
              <a:ext uri="{FF2B5EF4-FFF2-40B4-BE49-F238E27FC236}">
                <a16:creationId xmlns:a16="http://schemas.microsoft.com/office/drawing/2014/main" id="{31740CAD-6CDA-9014-8875-BCECEECE0522}"/>
              </a:ext>
            </a:extLst>
          </p:cNvPr>
          <p:cNvSpPr/>
          <p:nvPr userDrawn="1"/>
        </p:nvSpPr>
        <p:spPr>
          <a:xfrm flipH="1">
            <a:off x="3791017" y="2349814"/>
            <a:ext cx="2058045" cy="205804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16E536D1-EF07-9062-CA32-986876ED933F}"/>
              </a:ext>
            </a:extLst>
          </p:cNvPr>
          <p:cNvSpPr/>
          <p:nvPr userDrawn="1"/>
        </p:nvSpPr>
        <p:spPr>
          <a:xfrm flipH="1">
            <a:off x="8929767" y="2349814"/>
            <a:ext cx="2058045" cy="205804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5D09D35C-DD66-8B6A-98FE-003262BBE72D}"/>
              </a:ext>
            </a:extLst>
          </p:cNvPr>
          <p:cNvSpPr/>
          <p:nvPr userDrawn="1"/>
        </p:nvSpPr>
        <p:spPr>
          <a:xfrm flipH="1">
            <a:off x="6342947" y="2349814"/>
            <a:ext cx="2058045" cy="205804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F0E263D2-96A8-9EB3-2175-1DB2FD5CB609}"/>
              </a:ext>
            </a:extLst>
          </p:cNvPr>
          <p:cNvSpPr/>
          <p:nvPr userDrawn="1"/>
        </p:nvSpPr>
        <p:spPr>
          <a:xfrm flipH="1">
            <a:off x="1247942" y="2349814"/>
            <a:ext cx="2058045" cy="205804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042524"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042524"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62712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627120"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09600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096000"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24349"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24349"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399285"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394678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49871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08553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Tree>
    <p:extLst>
      <p:ext uri="{BB962C8B-B14F-4D97-AF65-F5344CB8AC3E}">
        <p14:creationId xmlns:p14="http://schemas.microsoft.com/office/powerpoint/2010/main" val="37842011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3CF1AC86-4E83-EED8-9FB5-635710111D45}"/>
              </a:ext>
            </a:extLst>
          </p:cNvPr>
          <p:cNvSpPr/>
          <p:nvPr userDrawn="1"/>
        </p:nvSpPr>
        <p:spPr>
          <a:xfrm flipH="1">
            <a:off x="1704107" y="4055522"/>
            <a:ext cx="1231495" cy="123149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803E890B-5D84-F4A6-E963-051A1C52577D}"/>
              </a:ext>
            </a:extLst>
          </p:cNvPr>
          <p:cNvSpPr/>
          <p:nvPr userDrawn="1"/>
        </p:nvSpPr>
        <p:spPr>
          <a:xfrm flipH="1">
            <a:off x="4228381" y="1853643"/>
            <a:ext cx="1231495" cy="1231495"/>
          </a:xfrm>
          <a:prstGeom prst="ellipse">
            <a:avLst/>
          </a:prstGeom>
          <a:gradFill flip="none" rotWithShape="1">
            <a:gsLst>
              <a:gs pos="18000">
                <a:schemeClr val="accent3"/>
              </a:gs>
              <a:gs pos="52000">
                <a:schemeClr val="accent5">
                  <a:alpha val="69515"/>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CA321B0B-6EF1-E460-8E13-3BBE774FA148}"/>
              </a:ext>
            </a:extLst>
          </p:cNvPr>
          <p:cNvSpPr/>
          <p:nvPr userDrawn="1"/>
        </p:nvSpPr>
        <p:spPr>
          <a:xfrm flipH="1">
            <a:off x="6752655" y="4055275"/>
            <a:ext cx="1231495" cy="1231495"/>
          </a:xfrm>
          <a:prstGeom prst="ellipse">
            <a:avLst/>
          </a:prstGeom>
          <a:gradFill flip="none" rotWithShape="1">
            <a:gsLst>
              <a:gs pos="18000">
                <a:schemeClr val="accent3"/>
              </a:gs>
              <a:gs pos="52000">
                <a:schemeClr val="accent5">
                  <a:alpha val="69515"/>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898AB146-30D1-CD59-5D88-5097CF8561D1}"/>
              </a:ext>
            </a:extLst>
          </p:cNvPr>
          <p:cNvSpPr/>
          <p:nvPr userDrawn="1"/>
        </p:nvSpPr>
        <p:spPr>
          <a:xfrm flipH="1">
            <a:off x="9280950" y="4066155"/>
            <a:ext cx="1231495" cy="1231495"/>
          </a:xfrm>
          <a:prstGeom prst="ellipse">
            <a:avLst/>
          </a:prstGeom>
          <a:gradFill flip="none" rotWithShape="1">
            <a:gsLst>
              <a:gs pos="0">
                <a:schemeClr val="accent1"/>
              </a:gs>
              <a:gs pos="77000">
                <a:schemeClr val="accent6">
                  <a:alpha val="69284"/>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4FE52614-CC2D-3550-FDBA-9D7D76ED0F72}"/>
              </a:ext>
            </a:extLst>
          </p:cNvPr>
          <p:cNvSpPr/>
          <p:nvPr userDrawn="1"/>
        </p:nvSpPr>
        <p:spPr>
          <a:xfrm flipH="1">
            <a:off x="4228381" y="4056366"/>
            <a:ext cx="1231495" cy="1231495"/>
          </a:xfrm>
          <a:prstGeom prst="ellipse">
            <a:avLst/>
          </a:prstGeom>
          <a:gradFill flip="none" rotWithShape="1">
            <a:gsLst>
              <a:gs pos="0">
                <a:schemeClr val="accent1"/>
              </a:gs>
              <a:gs pos="77000">
                <a:schemeClr val="accent6">
                  <a:alpha val="69284"/>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D19BEA3C-B965-CC70-315C-7C531CD7AA4A}"/>
              </a:ext>
            </a:extLst>
          </p:cNvPr>
          <p:cNvSpPr/>
          <p:nvPr userDrawn="1"/>
        </p:nvSpPr>
        <p:spPr>
          <a:xfrm flipH="1">
            <a:off x="9276929" y="1861862"/>
            <a:ext cx="1231495" cy="123149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DBCCE6E9-C40E-A684-457C-F08C974BD59F}"/>
              </a:ext>
            </a:extLst>
          </p:cNvPr>
          <p:cNvSpPr/>
          <p:nvPr userDrawn="1"/>
        </p:nvSpPr>
        <p:spPr>
          <a:xfrm flipH="1">
            <a:off x="6752655" y="1855810"/>
            <a:ext cx="1231495" cy="123149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E9B5F0D0-ABA3-5B0F-77C9-C5B64A613F84}"/>
              </a:ext>
            </a:extLst>
          </p:cNvPr>
          <p:cNvSpPr/>
          <p:nvPr userDrawn="1"/>
        </p:nvSpPr>
        <p:spPr>
          <a:xfrm flipH="1">
            <a:off x="1692043" y="1846020"/>
            <a:ext cx="1231495" cy="123149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338328"/>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176854"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176854"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701128"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701128"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225402"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225402"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49676"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49676"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782010"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4318348"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842622"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366896"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9" name="Picture Placeholder 20">
            <a:extLst>
              <a:ext uri="{FF2B5EF4-FFF2-40B4-BE49-F238E27FC236}">
                <a16:creationId xmlns:a16="http://schemas.microsoft.com/office/drawing/2014/main" id="{BA9EB14D-8336-06B5-51E3-FBCAF00F1F25}"/>
              </a:ext>
            </a:extLst>
          </p:cNvPr>
          <p:cNvSpPr>
            <a:spLocks noGrp="1"/>
          </p:cNvSpPr>
          <p:nvPr>
            <p:ph type="pic" sz="quarter" idx="24"/>
          </p:nvPr>
        </p:nvSpPr>
        <p:spPr>
          <a:xfrm>
            <a:off x="1794074" y="4145489"/>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0" name="Picture Placeholder 20">
            <a:extLst>
              <a:ext uri="{FF2B5EF4-FFF2-40B4-BE49-F238E27FC236}">
                <a16:creationId xmlns:a16="http://schemas.microsoft.com/office/drawing/2014/main" id="{A1E65D12-1094-78B5-B37A-A03576991D1D}"/>
              </a:ext>
            </a:extLst>
          </p:cNvPr>
          <p:cNvSpPr>
            <a:spLocks noGrp="1"/>
          </p:cNvSpPr>
          <p:nvPr>
            <p:ph type="pic" sz="quarter" idx="25"/>
          </p:nvPr>
        </p:nvSpPr>
        <p:spPr>
          <a:xfrm>
            <a:off x="4318348" y="4146333"/>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1" name="Picture Placeholder 20">
            <a:extLst>
              <a:ext uri="{FF2B5EF4-FFF2-40B4-BE49-F238E27FC236}">
                <a16:creationId xmlns:a16="http://schemas.microsoft.com/office/drawing/2014/main" id="{6ABE5CEC-34A4-CD5D-FA0D-D675A87984F5}"/>
              </a:ext>
            </a:extLst>
          </p:cNvPr>
          <p:cNvSpPr>
            <a:spLocks noGrp="1"/>
          </p:cNvSpPr>
          <p:nvPr>
            <p:ph type="pic" sz="quarter" idx="26"/>
          </p:nvPr>
        </p:nvSpPr>
        <p:spPr>
          <a:xfrm>
            <a:off x="6842622" y="4145242"/>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2" name="Picture Placeholder 20">
            <a:extLst>
              <a:ext uri="{FF2B5EF4-FFF2-40B4-BE49-F238E27FC236}">
                <a16:creationId xmlns:a16="http://schemas.microsoft.com/office/drawing/2014/main" id="{5DA945B5-3444-7CAC-AA4A-55B04D039824}"/>
              </a:ext>
            </a:extLst>
          </p:cNvPr>
          <p:cNvSpPr>
            <a:spLocks noGrp="1"/>
          </p:cNvSpPr>
          <p:nvPr>
            <p:ph type="pic" sz="quarter" idx="27"/>
          </p:nvPr>
        </p:nvSpPr>
        <p:spPr>
          <a:xfrm>
            <a:off x="9370917" y="4156122"/>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3" name="Text Placeholder 11">
            <a:extLst>
              <a:ext uri="{FF2B5EF4-FFF2-40B4-BE49-F238E27FC236}">
                <a16:creationId xmlns:a16="http://schemas.microsoft.com/office/drawing/2014/main" id="{CB0DA5B5-9C84-7B23-EE8E-CEA555CD808E}"/>
              </a:ext>
            </a:extLst>
          </p:cNvPr>
          <p:cNvSpPr>
            <a:spLocks noGrp="1"/>
          </p:cNvSpPr>
          <p:nvPr>
            <p:ph type="body" sz="quarter" idx="28"/>
          </p:nvPr>
        </p:nvSpPr>
        <p:spPr>
          <a:xfrm>
            <a:off x="1176854"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4" name="Text Placeholder 11">
            <a:extLst>
              <a:ext uri="{FF2B5EF4-FFF2-40B4-BE49-F238E27FC236}">
                <a16:creationId xmlns:a16="http://schemas.microsoft.com/office/drawing/2014/main" id="{99C62621-0080-5CDD-E5DD-2FCF2D548CEB}"/>
              </a:ext>
            </a:extLst>
          </p:cNvPr>
          <p:cNvSpPr>
            <a:spLocks noGrp="1"/>
          </p:cNvSpPr>
          <p:nvPr>
            <p:ph type="body" sz="quarter" idx="29"/>
          </p:nvPr>
        </p:nvSpPr>
        <p:spPr>
          <a:xfrm>
            <a:off x="1176854"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5" name="Text Placeholder 11">
            <a:extLst>
              <a:ext uri="{FF2B5EF4-FFF2-40B4-BE49-F238E27FC236}">
                <a16:creationId xmlns:a16="http://schemas.microsoft.com/office/drawing/2014/main" id="{B69DDE47-632B-987E-545E-BAB200D374ED}"/>
              </a:ext>
            </a:extLst>
          </p:cNvPr>
          <p:cNvSpPr>
            <a:spLocks noGrp="1"/>
          </p:cNvSpPr>
          <p:nvPr>
            <p:ph type="body" sz="quarter" idx="30"/>
          </p:nvPr>
        </p:nvSpPr>
        <p:spPr>
          <a:xfrm>
            <a:off x="3701128"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6" name="Text Placeholder 11">
            <a:extLst>
              <a:ext uri="{FF2B5EF4-FFF2-40B4-BE49-F238E27FC236}">
                <a16:creationId xmlns:a16="http://schemas.microsoft.com/office/drawing/2014/main" id="{A165DCBF-4EFD-7181-68BA-1625AC1C0D5F}"/>
              </a:ext>
            </a:extLst>
          </p:cNvPr>
          <p:cNvSpPr>
            <a:spLocks noGrp="1"/>
          </p:cNvSpPr>
          <p:nvPr>
            <p:ph type="body" sz="quarter" idx="31"/>
          </p:nvPr>
        </p:nvSpPr>
        <p:spPr>
          <a:xfrm>
            <a:off x="3701128"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7" name="Text Placeholder 11">
            <a:extLst>
              <a:ext uri="{FF2B5EF4-FFF2-40B4-BE49-F238E27FC236}">
                <a16:creationId xmlns:a16="http://schemas.microsoft.com/office/drawing/2014/main" id="{3C7ECA2F-9EC3-26BD-B424-ECE80473DF37}"/>
              </a:ext>
            </a:extLst>
          </p:cNvPr>
          <p:cNvSpPr>
            <a:spLocks noGrp="1"/>
          </p:cNvSpPr>
          <p:nvPr>
            <p:ph type="body" sz="quarter" idx="32"/>
          </p:nvPr>
        </p:nvSpPr>
        <p:spPr>
          <a:xfrm>
            <a:off x="6225402"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8" name="Text Placeholder 11">
            <a:extLst>
              <a:ext uri="{FF2B5EF4-FFF2-40B4-BE49-F238E27FC236}">
                <a16:creationId xmlns:a16="http://schemas.microsoft.com/office/drawing/2014/main" id="{C9535F99-6134-8D03-FFEE-D1B3E007F2CC}"/>
              </a:ext>
            </a:extLst>
          </p:cNvPr>
          <p:cNvSpPr>
            <a:spLocks noGrp="1"/>
          </p:cNvSpPr>
          <p:nvPr>
            <p:ph type="body" sz="quarter" idx="33"/>
          </p:nvPr>
        </p:nvSpPr>
        <p:spPr>
          <a:xfrm>
            <a:off x="6225402"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9" name="Text Placeholder 11">
            <a:extLst>
              <a:ext uri="{FF2B5EF4-FFF2-40B4-BE49-F238E27FC236}">
                <a16:creationId xmlns:a16="http://schemas.microsoft.com/office/drawing/2014/main" id="{163BD863-99E7-C7C4-4762-8C168574E9A8}"/>
              </a:ext>
            </a:extLst>
          </p:cNvPr>
          <p:cNvSpPr>
            <a:spLocks noGrp="1"/>
          </p:cNvSpPr>
          <p:nvPr>
            <p:ph type="body" sz="quarter" idx="34"/>
          </p:nvPr>
        </p:nvSpPr>
        <p:spPr>
          <a:xfrm>
            <a:off x="8749676"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40" name="Text Placeholder 11">
            <a:extLst>
              <a:ext uri="{FF2B5EF4-FFF2-40B4-BE49-F238E27FC236}">
                <a16:creationId xmlns:a16="http://schemas.microsoft.com/office/drawing/2014/main" id="{63678AE5-B810-D5BE-40B5-888AF4473157}"/>
              </a:ext>
            </a:extLst>
          </p:cNvPr>
          <p:cNvSpPr>
            <a:spLocks noGrp="1"/>
          </p:cNvSpPr>
          <p:nvPr>
            <p:ph type="body" sz="quarter" idx="35"/>
          </p:nvPr>
        </p:nvSpPr>
        <p:spPr>
          <a:xfrm>
            <a:off x="8749676"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Tree>
    <p:extLst>
      <p:ext uri="{BB962C8B-B14F-4D97-AF65-F5344CB8AC3E}">
        <p14:creationId xmlns:p14="http://schemas.microsoft.com/office/powerpoint/2010/main" val="6345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Summary">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FF4F2FF2-B2D0-EAB9-0059-1E59CFF27936}"/>
              </a:ext>
            </a:extLst>
          </p:cNvPr>
          <p:cNvSpPr/>
          <p:nvPr userDrawn="1"/>
        </p:nvSpPr>
        <p:spPr>
          <a:xfrm>
            <a:off x="0" y="3079989"/>
            <a:ext cx="4744043" cy="3778013"/>
          </a:xfrm>
          <a:custGeom>
            <a:avLst/>
            <a:gdLst>
              <a:gd name="connsiteX0" fmla="*/ 552680 w 4744043"/>
              <a:gd name="connsiteY0" fmla="*/ 2 h 3778013"/>
              <a:gd name="connsiteX1" fmla="*/ 3368067 w 4744043"/>
              <a:gd name="connsiteY1" fmla="*/ 2076456 h 3778013"/>
              <a:gd name="connsiteX2" fmla="*/ 4603294 w 4744043"/>
              <a:gd name="connsiteY2" fmla="*/ 3641510 h 3778013"/>
              <a:gd name="connsiteX3" fmla="*/ 4744043 w 4744043"/>
              <a:gd name="connsiteY3" fmla="*/ 3778013 h 3778013"/>
              <a:gd name="connsiteX4" fmla="*/ 0 w 4744043"/>
              <a:gd name="connsiteY4" fmla="*/ 3778013 h 3778013"/>
              <a:gd name="connsiteX5" fmla="*/ 0 w 4744043"/>
              <a:gd name="connsiteY5" fmla="*/ 73323 h 3778013"/>
              <a:gd name="connsiteX6" fmla="*/ 163773 w 4744043"/>
              <a:gd name="connsiteY6" fmla="*/ 34335 h 3778013"/>
              <a:gd name="connsiteX7" fmla="*/ 552680 w 4744043"/>
              <a:gd name="connsiteY7" fmla="*/ 2 h 377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44043" h="3778013">
                <a:moveTo>
                  <a:pt x="552680" y="2"/>
                </a:moveTo>
                <a:cubicBezTo>
                  <a:pt x="1474475" y="1086"/>
                  <a:pt x="2486209" y="585872"/>
                  <a:pt x="3368067" y="2076456"/>
                </a:cubicBezTo>
                <a:cubicBezTo>
                  <a:pt x="3678455" y="2598086"/>
                  <a:pt x="4104379" y="3133243"/>
                  <a:pt x="4603294" y="3641510"/>
                </a:cubicBezTo>
                <a:lnTo>
                  <a:pt x="4744043" y="3778013"/>
                </a:lnTo>
                <a:lnTo>
                  <a:pt x="0" y="3778013"/>
                </a:lnTo>
                <a:lnTo>
                  <a:pt x="0" y="73323"/>
                </a:lnTo>
                <a:lnTo>
                  <a:pt x="163773" y="34335"/>
                </a:lnTo>
                <a:cubicBezTo>
                  <a:pt x="291146" y="11604"/>
                  <a:pt x="420996" y="-154"/>
                  <a:pt x="552680" y="2"/>
                </a:cubicBezTo>
                <a:close/>
              </a:path>
            </a:pathLst>
          </a:custGeom>
          <a:gradFill flip="none" rotWithShape="1">
            <a:gsLst>
              <a:gs pos="41000">
                <a:schemeClr val="accent3">
                  <a:lumMod val="25000"/>
                  <a:alpha val="67969"/>
                </a:schemeClr>
              </a:gs>
              <a:gs pos="100000">
                <a:schemeClr val="accent2">
                  <a:alpha val="29022"/>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9" name="Freeform: Shape 18">
            <a:extLst>
              <a:ext uri="{FF2B5EF4-FFF2-40B4-BE49-F238E27FC236}">
                <a16:creationId xmlns:a16="http://schemas.microsoft.com/office/drawing/2014/main" id="{8B193F7C-DAB3-79A0-9B6F-012F23BAF8BD}"/>
              </a:ext>
            </a:extLst>
          </p:cNvPr>
          <p:cNvSpPr/>
          <p:nvPr userDrawn="1"/>
        </p:nvSpPr>
        <p:spPr>
          <a:xfrm>
            <a:off x="1" y="0"/>
            <a:ext cx="6552595" cy="3112082"/>
          </a:xfrm>
          <a:custGeom>
            <a:avLst/>
            <a:gdLst>
              <a:gd name="connsiteX0" fmla="*/ 6552595 w 6552595"/>
              <a:gd name="connsiteY0" fmla="*/ 0 h 3112082"/>
              <a:gd name="connsiteX1" fmla="*/ 6479403 w 6552595"/>
              <a:gd name="connsiteY1" fmla="*/ 116338 h 3112082"/>
              <a:gd name="connsiteX2" fmla="*/ 4627940 w 6552595"/>
              <a:gd name="connsiteY2" fmla="*/ 645238 h 3112082"/>
              <a:gd name="connsiteX3" fmla="*/ 631580 w 6552595"/>
              <a:gd name="connsiteY3" fmla="*/ 1915852 h 3112082"/>
              <a:gd name="connsiteX4" fmla="*/ 46252 w 6552595"/>
              <a:gd name="connsiteY4" fmla="*/ 2980209 h 3112082"/>
              <a:gd name="connsiteX5" fmla="*/ 0 w 6552595"/>
              <a:gd name="connsiteY5" fmla="*/ 3112082 h 3112082"/>
              <a:gd name="connsiteX6" fmla="*/ 0 w 6552595"/>
              <a:gd name="connsiteY6" fmla="*/ 1037361 h 3112082"/>
              <a:gd name="connsiteX7" fmla="*/ 0 w 6552595"/>
              <a:gd name="connsiteY7" fmla="*/ 0 h 3112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52595" h="3112082">
                <a:moveTo>
                  <a:pt x="6552595" y="0"/>
                </a:moveTo>
                <a:lnTo>
                  <a:pt x="6479403" y="116338"/>
                </a:lnTo>
                <a:cubicBezTo>
                  <a:pt x="6181653" y="532833"/>
                  <a:pt x="5587528" y="785625"/>
                  <a:pt x="4627940" y="645238"/>
                </a:cubicBezTo>
                <a:cubicBezTo>
                  <a:pt x="3343367" y="460619"/>
                  <a:pt x="1347900" y="971915"/>
                  <a:pt x="631580" y="1915852"/>
                </a:cubicBezTo>
                <a:cubicBezTo>
                  <a:pt x="407731" y="2210834"/>
                  <a:pt x="204970" y="2565624"/>
                  <a:pt x="46252" y="2980209"/>
                </a:cubicBezTo>
                <a:lnTo>
                  <a:pt x="0" y="3112082"/>
                </a:lnTo>
                <a:lnTo>
                  <a:pt x="0" y="1037361"/>
                </a:lnTo>
                <a:lnTo>
                  <a:pt x="0" y="0"/>
                </a:lnTo>
                <a:close/>
              </a:path>
            </a:pathLst>
          </a:custGeom>
          <a:gradFill flip="none" rotWithShape="1">
            <a:gsLst>
              <a:gs pos="76000">
                <a:schemeClr val="accent3">
                  <a:lumMod val="25000"/>
                </a:schemeClr>
              </a:gs>
              <a:gs pos="0">
                <a:schemeClr val="accent1">
                  <a:alpha val="56738"/>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4" name="Freeform: Shape 13">
            <a:extLst>
              <a:ext uri="{FF2B5EF4-FFF2-40B4-BE49-F238E27FC236}">
                <a16:creationId xmlns:a16="http://schemas.microsoft.com/office/drawing/2014/main" id="{D9D045F5-266F-9ADF-9692-2DA7DB16DFFE}"/>
              </a:ext>
            </a:extLst>
          </p:cNvPr>
          <p:cNvSpPr/>
          <p:nvPr userDrawn="1"/>
        </p:nvSpPr>
        <p:spPr>
          <a:xfrm>
            <a:off x="10269564" y="0"/>
            <a:ext cx="1922436" cy="5772376"/>
          </a:xfrm>
          <a:custGeom>
            <a:avLst/>
            <a:gdLst>
              <a:gd name="connsiteX0" fmla="*/ 0 w 1922436"/>
              <a:gd name="connsiteY0" fmla="*/ 0 h 5772376"/>
              <a:gd name="connsiteX1" fmla="*/ 1922436 w 1922436"/>
              <a:gd name="connsiteY1" fmla="*/ 0 h 5772376"/>
              <a:gd name="connsiteX2" fmla="*/ 1922436 w 1922436"/>
              <a:gd name="connsiteY2" fmla="*/ 5770832 h 5772376"/>
              <a:gd name="connsiteX3" fmla="*/ 1785843 w 1922436"/>
              <a:gd name="connsiteY3" fmla="*/ 5772376 h 5772376"/>
              <a:gd name="connsiteX4" fmla="*/ 167636 w 1922436"/>
              <a:gd name="connsiteY4" fmla="*/ 2958760 h 5772376"/>
              <a:gd name="connsiteX5" fmla="*/ 11457 w 1922436"/>
              <a:gd name="connsiteY5" fmla="*/ 41049 h 5772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22436" h="5772376">
                <a:moveTo>
                  <a:pt x="0" y="0"/>
                </a:moveTo>
                <a:lnTo>
                  <a:pt x="1922436" y="0"/>
                </a:lnTo>
                <a:lnTo>
                  <a:pt x="1922436" y="5770832"/>
                </a:lnTo>
                <a:lnTo>
                  <a:pt x="1785843" y="5772376"/>
                </a:lnTo>
                <a:cubicBezTo>
                  <a:pt x="715486" y="5737436"/>
                  <a:pt x="-199675" y="4895626"/>
                  <a:pt x="167636" y="2958760"/>
                </a:cubicBezTo>
                <a:cubicBezTo>
                  <a:pt x="324540" y="2119813"/>
                  <a:pt x="262661" y="1037667"/>
                  <a:pt x="11457" y="41049"/>
                </a:cubicBezTo>
                <a:close/>
              </a:path>
            </a:pathLst>
          </a:custGeom>
          <a:gradFill flip="none" rotWithShape="1">
            <a:gsLst>
              <a:gs pos="10000">
                <a:schemeClr val="accent2">
                  <a:alpha val="9960"/>
                </a:schemeClr>
              </a:gs>
              <a:gs pos="100000">
                <a:schemeClr val="accent1">
                  <a:alpha val="47557"/>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2" name="Freeform: Shape 11">
            <a:extLst>
              <a:ext uri="{FF2B5EF4-FFF2-40B4-BE49-F238E27FC236}">
                <a16:creationId xmlns:a16="http://schemas.microsoft.com/office/drawing/2014/main" id="{2A494E50-F563-24E6-92E6-F9E55D1F3D50}"/>
              </a:ext>
            </a:extLst>
          </p:cNvPr>
          <p:cNvSpPr/>
          <p:nvPr userDrawn="1"/>
        </p:nvSpPr>
        <p:spPr>
          <a:xfrm>
            <a:off x="10861332" y="0"/>
            <a:ext cx="1330669" cy="3088658"/>
          </a:xfrm>
          <a:custGeom>
            <a:avLst/>
            <a:gdLst>
              <a:gd name="connsiteX0" fmla="*/ 0 w 1330669"/>
              <a:gd name="connsiteY0" fmla="*/ 0 h 3088658"/>
              <a:gd name="connsiteX1" fmla="*/ 1330669 w 1330669"/>
              <a:gd name="connsiteY1" fmla="*/ 0 h 3088658"/>
              <a:gd name="connsiteX2" fmla="*/ 1330669 w 1330669"/>
              <a:gd name="connsiteY2" fmla="*/ 3088658 h 3088658"/>
              <a:gd name="connsiteX3" fmla="*/ 1265038 w 1330669"/>
              <a:gd name="connsiteY3" fmla="*/ 3075052 h 3088658"/>
              <a:gd name="connsiteX4" fmla="*/ 84101 w 1330669"/>
              <a:gd name="connsiteY4" fmla="*/ 918166 h 3088658"/>
              <a:gd name="connsiteX5" fmla="*/ 3100 w 1330669"/>
              <a:gd name="connsiteY5" fmla="*/ 15153 h 3088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0669" h="3088658">
                <a:moveTo>
                  <a:pt x="0" y="0"/>
                </a:moveTo>
                <a:lnTo>
                  <a:pt x="1330669" y="0"/>
                </a:lnTo>
                <a:lnTo>
                  <a:pt x="1330669" y="3088658"/>
                </a:lnTo>
                <a:lnTo>
                  <a:pt x="1265038" y="3075052"/>
                </a:lnTo>
                <a:cubicBezTo>
                  <a:pt x="597017" y="2898062"/>
                  <a:pt x="64513" y="2241595"/>
                  <a:pt x="84101" y="918166"/>
                </a:cubicBezTo>
                <a:cubicBezTo>
                  <a:pt x="87550" y="637183"/>
                  <a:pt x="59230" y="331259"/>
                  <a:pt x="3100" y="15153"/>
                </a:cubicBezTo>
                <a:close/>
              </a:path>
            </a:pathLst>
          </a:custGeom>
          <a:solidFill>
            <a:schemeClr val="accent1">
              <a:alpha val="50635"/>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6" name="glass card">
            <a:extLst>
              <a:ext uri="{FF2B5EF4-FFF2-40B4-BE49-F238E27FC236}">
                <a16:creationId xmlns:a16="http://schemas.microsoft.com/office/drawing/2014/main" id="{D9024B22-C102-71C1-8593-95259EC18972}"/>
              </a:ext>
            </a:extLst>
          </p:cNvPr>
          <p:cNvSpPr/>
          <p:nvPr userDrawn="1"/>
        </p:nvSpPr>
        <p:spPr>
          <a:xfrm>
            <a:off x="1474384" y="1005155"/>
            <a:ext cx="9243233" cy="4978750"/>
          </a:xfrm>
          <a:prstGeom prst="roundRect">
            <a:avLst>
              <a:gd name="adj" fmla="val 6806"/>
            </a:avLst>
          </a:prstGeom>
          <a:gradFill>
            <a:gsLst>
              <a:gs pos="99000">
                <a:schemeClr val="bg1">
                  <a:alpha val="3000"/>
                </a:schemeClr>
              </a:gs>
              <a:gs pos="46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2597113"/>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1" name="Freeform: Shape 20">
            <a:extLst>
              <a:ext uri="{FF2B5EF4-FFF2-40B4-BE49-F238E27FC236}">
                <a16:creationId xmlns:a16="http://schemas.microsoft.com/office/drawing/2014/main" id="{8A78F28F-70CE-7FE2-ACE1-FA2D7C1CE590}"/>
              </a:ext>
            </a:extLst>
          </p:cNvPr>
          <p:cNvSpPr/>
          <p:nvPr userDrawn="1"/>
        </p:nvSpPr>
        <p:spPr>
          <a:xfrm>
            <a:off x="0" y="0"/>
            <a:ext cx="2862855" cy="1527696"/>
          </a:xfrm>
          <a:custGeom>
            <a:avLst/>
            <a:gdLst>
              <a:gd name="connsiteX0" fmla="*/ 0 w 2862855"/>
              <a:gd name="connsiteY0" fmla="*/ 0 h 1527696"/>
              <a:gd name="connsiteX1" fmla="*/ 2862855 w 2862855"/>
              <a:gd name="connsiteY1" fmla="*/ 0 h 1527696"/>
              <a:gd name="connsiteX2" fmla="*/ 2757362 w 2862855"/>
              <a:gd name="connsiteY2" fmla="*/ 85011 h 1527696"/>
              <a:gd name="connsiteX3" fmla="*/ 1949659 w 2862855"/>
              <a:gd name="connsiteY3" fmla="*/ 424032 h 1527696"/>
              <a:gd name="connsiteX4" fmla="*/ 170555 w 2862855"/>
              <a:gd name="connsiteY4" fmla="*/ 1373059 h 1527696"/>
              <a:gd name="connsiteX5" fmla="*/ 0 w 2862855"/>
              <a:gd name="connsiteY5" fmla="*/ 1527696 h 1527696"/>
              <a:gd name="connsiteX6" fmla="*/ 0 w 2862855"/>
              <a:gd name="connsiteY6" fmla="*/ 872969 h 1527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2855" h="1527696">
                <a:moveTo>
                  <a:pt x="0" y="0"/>
                </a:moveTo>
                <a:lnTo>
                  <a:pt x="2862855" y="0"/>
                </a:lnTo>
                <a:lnTo>
                  <a:pt x="2757362" y="85011"/>
                </a:lnTo>
                <a:cubicBezTo>
                  <a:pt x="2560942" y="227521"/>
                  <a:pt x="2295416" y="345289"/>
                  <a:pt x="1949659" y="424032"/>
                </a:cubicBezTo>
                <a:cubicBezTo>
                  <a:pt x="1377417" y="555874"/>
                  <a:pt x="700343" y="918207"/>
                  <a:pt x="170555" y="1373059"/>
                </a:cubicBezTo>
                <a:lnTo>
                  <a:pt x="0" y="1527696"/>
                </a:lnTo>
                <a:lnTo>
                  <a:pt x="0" y="872969"/>
                </a:lnTo>
                <a:close/>
              </a:path>
            </a:pathLst>
          </a:custGeom>
          <a:gradFill flip="none" rotWithShape="1">
            <a:gsLst>
              <a:gs pos="100000">
                <a:schemeClr val="accent3">
                  <a:lumMod val="25000"/>
                  <a:alpha val="40000"/>
                </a:schemeClr>
              </a:gs>
              <a:gs pos="0">
                <a:schemeClr val="accent4">
                  <a:alpha val="69786"/>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29" name="Freeform: Shape 28">
            <a:extLst>
              <a:ext uri="{FF2B5EF4-FFF2-40B4-BE49-F238E27FC236}">
                <a16:creationId xmlns:a16="http://schemas.microsoft.com/office/drawing/2014/main" id="{294AB31D-FEF2-F3B0-D726-81CE48F895EA}"/>
              </a:ext>
            </a:extLst>
          </p:cNvPr>
          <p:cNvSpPr/>
          <p:nvPr userDrawn="1"/>
        </p:nvSpPr>
        <p:spPr>
          <a:xfrm>
            <a:off x="2" y="4761091"/>
            <a:ext cx="3131151" cy="2096908"/>
          </a:xfrm>
          <a:custGeom>
            <a:avLst/>
            <a:gdLst>
              <a:gd name="connsiteX0" fmla="*/ 186163 w 3131151"/>
              <a:gd name="connsiteY0" fmla="*/ 0 h 2096908"/>
              <a:gd name="connsiteX1" fmla="*/ 2469297 w 3131151"/>
              <a:gd name="connsiteY1" fmla="*/ 1411265 h 2096908"/>
              <a:gd name="connsiteX2" fmla="*/ 3026909 w 3131151"/>
              <a:gd name="connsiteY2" fmla="*/ 2004423 h 2096908"/>
              <a:gd name="connsiteX3" fmla="*/ 3131151 w 3131151"/>
              <a:gd name="connsiteY3" fmla="*/ 2096908 h 2096908"/>
              <a:gd name="connsiteX4" fmla="*/ 0 w 3131151"/>
              <a:gd name="connsiteY4" fmla="*/ 2096908 h 2096908"/>
              <a:gd name="connsiteX5" fmla="*/ 0 w 3131151"/>
              <a:gd name="connsiteY5" fmla="*/ 4640 h 2096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31151" h="2096908">
                <a:moveTo>
                  <a:pt x="186163" y="0"/>
                </a:moveTo>
                <a:cubicBezTo>
                  <a:pt x="883663" y="24692"/>
                  <a:pt x="1675023" y="432572"/>
                  <a:pt x="2469297" y="1411265"/>
                </a:cubicBezTo>
                <a:cubicBezTo>
                  <a:pt x="2632187" y="1610943"/>
                  <a:pt x="2819757" y="1809855"/>
                  <a:pt x="3026909" y="2004423"/>
                </a:cubicBezTo>
                <a:lnTo>
                  <a:pt x="3131151" y="2096908"/>
                </a:lnTo>
                <a:lnTo>
                  <a:pt x="0" y="2096908"/>
                </a:lnTo>
                <a:lnTo>
                  <a:pt x="0" y="4640"/>
                </a:lnTo>
                <a:close/>
              </a:path>
            </a:pathLst>
          </a:custGeom>
          <a:gradFill flip="none" rotWithShape="1">
            <a:gsLst>
              <a:gs pos="47000">
                <a:schemeClr val="accent6">
                  <a:alpha val="51365"/>
                </a:schemeClr>
              </a:gs>
              <a:gs pos="100000">
                <a:schemeClr val="accent4">
                  <a:alpha val="24386"/>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Tree>
    <p:extLst>
      <p:ext uri="{BB962C8B-B14F-4D97-AF65-F5344CB8AC3E}">
        <p14:creationId xmlns:p14="http://schemas.microsoft.com/office/powerpoint/2010/main" val="42938430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Clos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A2E8-50A1-4465-AC33-6FAC0E7736E9}"/>
              </a:ext>
            </a:extLst>
          </p:cNvPr>
          <p:cNvSpPr>
            <a:spLocks noGrp="1"/>
          </p:cNvSpPr>
          <p:nvPr>
            <p:ph type="title"/>
          </p:nvPr>
        </p:nvSpPr>
        <p:spPr>
          <a:xfrm>
            <a:off x="6592824" y="1856232"/>
            <a:ext cx="4718304" cy="1069848"/>
          </a:xfrm>
        </p:spPr>
        <p:txBody>
          <a:bodyPr anchor="b">
            <a:no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6601968" y="3374136"/>
            <a:ext cx="4709160" cy="2395728"/>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14">
            <a:extLst>
              <a:ext uri="{FF2B5EF4-FFF2-40B4-BE49-F238E27FC236}">
                <a16:creationId xmlns:a16="http://schemas.microsoft.com/office/drawing/2014/main" id="{907BDD9A-3C2A-A21B-A425-1BB45BF5C103}"/>
              </a:ext>
            </a:extLst>
          </p:cNvPr>
          <p:cNvSpPr/>
          <p:nvPr userDrawn="1"/>
        </p:nvSpPr>
        <p:spPr>
          <a:xfrm rot="5400000" flipH="1" flipV="1">
            <a:off x="-1248967" y="1248969"/>
            <a:ext cx="6858000" cy="4360065"/>
          </a:xfrm>
          <a:custGeom>
            <a:avLst/>
            <a:gdLst>
              <a:gd name="connsiteX0" fmla="*/ 6858000 w 6858000"/>
              <a:gd name="connsiteY0" fmla="*/ 0 h 4360065"/>
              <a:gd name="connsiteX1" fmla="*/ 6858000 w 6858000"/>
              <a:gd name="connsiteY1" fmla="*/ 4019634 h 4360065"/>
              <a:gd name="connsiteX2" fmla="*/ 6786526 w 6858000"/>
              <a:gd name="connsiteY2" fmla="*/ 3987694 h 4360065"/>
              <a:gd name="connsiteX3" fmla="*/ 4380589 w 6858000"/>
              <a:gd name="connsiteY3" fmla="*/ 3270469 h 4360065"/>
              <a:gd name="connsiteX4" fmla="*/ 1148443 w 6858000"/>
              <a:gd name="connsiteY4" fmla="*/ 4360028 h 4360065"/>
              <a:gd name="connsiteX5" fmla="*/ 93033 w 6858000"/>
              <a:gd name="connsiteY5" fmla="*/ 4174462 h 4360065"/>
              <a:gd name="connsiteX6" fmla="*/ 0 w 6858000"/>
              <a:gd name="connsiteY6" fmla="*/ 4134599 h 4360065"/>
              <a:gd name="connsiteX7" fmla="*/ 0 w 6858000"/>
              <a:gd name="connsiteY7" fmla="*/ 0 h 4360065"/>
              <a:gd name="connsiteX8" fmla="*/ 6858000 w 6858000"/>
              <a:gd name="connsiteY8" fmla="*/ 0 h 436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4360065">
                <a:moveTo>
                  <a:pt x="6858000" y="0"/>
                </a:moveTo>
                <a:lnTo>
                  <a:pt x="6858000" y="4019634"/>
                </a:lnTo>
                <a:lnTo>
                  <a:pt x="6786526" y="3987694"/>
                </a:lnTo>
                <a:cubicBezTo>
                  <a:pt x="6330423" y="3769997"/>
                  <a:pt x="5587519" y="3251791"/>
                  <a:pt x="4380589" y="3270469"/>
                </a:cubicBezTo>
                <a:cubicBezTo>
                  <a:pt x="3001241" y="3291816"/>
                  <a:pt x="2442968" y="4353863"/>
                  <a:pt x="1148443" y="4360028"/>
                </a:cubicBezTo>
                <a:cubicBezTo>
                  <a:pt x="743904" y="4361955"/>
                  <a:pt x="389317" y="4288650"/>
                  <a:pt x="93033" y="4174462"/>
                </a:cubicBezTo>
                <a:lnTo>
                  <a:pt x="0" y="4134599"/>
                </a:lnTo>
                <a:lnTo>
                  <a:pt x="0" y="0"/>
                </a:lnTo>
                <a:lnTo>
                  <a:pt x="6858000" y="0"/>
                </a:lnTo>
                <a:close/>
              </a:path>
            </a:pathLst>
          </a:custGeom>
          <a:solidFill>
            <a:schemeClr val="accent4">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16">
            <a:extLst>
              <a:ext uri="{FF2B5EF4-FFF2-40B4-BE49-F238E27FC236}">
                <a16:creationId xmlns:a16="http://schemas.microsoft.com/office/drawing/2014/main" id="{989D7F61-B47A-97D5-F725-EC5EFE81187A}"/>
              </a:ext>
            </a:extLst>
          </p:cNvPr>
          <p:cNvSpPr/>
          <p:nvPr userDrawn="1"/>
        </p:nvSpPr>
        <p:spPr>
          <a:xfrm rot="16200000" flipH="1">
            <a:off x="-952024" y="952025"/>
            <a:ext cx="6858000" cy="4953950"/>
          </a:xfrm>
          <a:custGeom>
            <a:avLst/>
            <a:gdLst>
              <a:gd name="connsiteX0" fmla="*/ 0 w 6858000"/>
              <a:gd name="connsiteY0" fmla="*/ 0 h 4953950"/>
              <a:gd name="connsiteX1" fmla="*/ 0 w 6858000"/>
              <a:gd name="connsiteY1" fmla="*/ 4289773 h 4953950"/>
              <a:gd name="connsiteX2" fmla="*/ 181159 w 6858000"/>
              <a:gd name="connsiteY2" fmla="*/ 4411259 h 4953950"/>
              <a:gd name="connsiteX3" fmla="*/ 2222746 w 6858000"/>
              <a:gd name="connsiteY3" fmla="*/ 4953891 h 4953950"/>
              <a:gd name="connsiteX4" fmla="*/ 6808516 w 6858000"/>
              <a:gd name="connsiteY4" fmla="*/ 3223031 h 4953950"/>
              <a:gd name="connsiteX5" fmla="*/ 6858000 w 6858000"/>
              <a:gd name="connsiteY5" fmla="*/ 3220931 h 4953950"/>
              <a:gd name="connsiteX6" fmla="*/ 6858000 w 6858000"/>
              <a:gd name="connsiteY6" fmla="*/ 0 h 4953950"/>
              <a:gd name="connsiteX7" fmla="*/ 0 w 6858000"/>
              <a:gd name="connsiteY7" fmla="*/ 0 h 4953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953950">
                <a:moveTo>
                  <a:pt x="0" y="0"/>
                </a:moveTo>
                <a:lnTo>
                  <a:pt x="0" y="4289773"/>
                </a:lnTo>
                <a:lnTo>
                  <a:pt x="181159" y="4411259"/>
                </a:lnTo>
                <a:cubicBezTo>
                  <a:pt x="694541" y="4727180"/>
                  <a:pt x="1386349" y="4958196"/>
                  <a:pt x="2222746" y="4953891"/>
                </a:cubicBezTo>
                <a:cubicBezTo>
                  <a:pt x="4074768" y="4944360"/>
                  <a:pt x="4906383" y="3353427"/>
                  <a:pt x="6808516" y="3223031"/>
                </a:cubicBezTo>
                <a:lnTo>
                  <a:pt x="6858000" y="3220931"/>
                </a:lnTo>
                <a:lnTo>
                  <a:pt x="6858000" y="0"/>
                </a:lnTo>
                <a:lnTo>
                  <a:pt x="0" y="0"/>
                </a:lnTo>
                <a:close/>
              </a:path>
            </a:pathLst>
          </a:custGeom>
          <a:gradFill flip="none" rotWithShape="1">
            <a:gsLst>
              <a:gs pos="20000">
                <a:schemeClr val="accent6">
                  <a:alpha val="52965"/>
                </a:schemeClr>
              </a:gs>
              <a:gs pos="90000">
                <a:schemeClr val="accent5">
                  <a:lumMod val="50000"/>
                  <a:alpha val="72473"/>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17">
            <a:extLst>
              <a:ext uri="{FF2B5EF4-FFF2-40B4-BE49-F238E27FC236}">
                <a16:creationId xmlns:a16="http://schemas.microsoft.com/office/drawing/2014/main" id="{A70008D0-0FB3-5B8D-3060-6EDD9E247095}"/>
              </a:ext>
            </a:extLst>
          </p:cNvPr>
          <p:cNvSpPr/>
          <p:nvPr userDrawn="1"/>
        </p:nvSpPr>
        <p:spPr>
          <a:xfrm rot="16200000" flipH="1">
            <a:off x="-1513890" y="1513891"/>
            <a:ext cx="6858000" cy="3830219"/>
          </a:xfrm>
          <a:custGeom>
            <a:avLst/>
            <a:gdLst>
              <a:gd name="connsiteX0" fmla="*/ 0 w 6858000"/>
              <a:gd name="connsiteY0" fmla="*/ 0 h 3830219"/>
              <a:gd name="connsiteX1" fmla="*/ 0 w 6858000"/>
              <a:gd name="connsiteY1" fmla="*/ 2994317 h 3830219"/>
              <a:gd name="connsiteX2" fmla="*/ 150933 w 6858000"/>
              <a:gd name="connsiteY2" fmla="*/ 2952927 h 3830219"/>
              <a:gd name="connsiteX3" fmla="*/ 533317 w 6858000"/>
              <a:gd name="connsiteY3" fmla="*/ 2907735 h 3830219"/>
              <a:gd name="connsiteX4" fmla="*/ 2516906 w 6858000"/>
              <a:gd name="connsiteY4" fmla="*/ 3558655 h 3830219"/>
              <a:gd name="connsiteX5" fmla="*/ 2542419 w 6858000"/>
              <a:gd name="connsiteY5" fmla="*/ 3568616 h 3830219"/>
              <a:gd name="connsiteX6" fmla="*/ 2607100 w 6858000"/>
              <a:gd name="connsiteY6" fmla="*/ 3608308 h 3830219"/>
              <a:gd name="connsiteX7" fmla="*/ 3580199 w 6858000"/>
              <a:gd name="connsiteY7" fmla="*/ 3830188 h 3830219"/>
              <a:gd name="connsiteX8" fmla="*/ 6145368 w 6858000"/>
              <a:gd name="connsiteY8" fmla="*/ 2895740 h 3830219"/>
              <a:gd name="connsiteX9" fmla="*/ 6711794 w 6858000"/>
              <a:gd name="connsiteY9" fmla="*/ 2941805 h 3830219"/>
              <a:gd name="connsiteX10" fmla="*/ 6858000 w 6858000"/>
              <a:gd name="connsiteY10" fmla="*/ 2973381 h 3830219"/>
              <a:gd name="connsiteX11" fmla="*/ 6858000 w 6858000"/>
              <a:gd name="connsiteY11" fmla="*/ 0 h 3830219"/>
              <a:gd name="connsiteX12" fmla="*/ 0 w 6858000"/>
              <a:gd name="connsiteY12" fmla="*/ 0 h 3830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8000" h="3830219">
                <a:moveTo>
                  <a:pt x="0" y="0"/>
                </a:moveTo>
                <a:lnTo>
                  <a:pt x="0" y="2994317"/>
                </a:lnTo>
                <a:lnTo>
                  <a:pt x="150933" y="2952927"/>
                </a:lnTo>
                <a:cubicBezTo>
                  <a:pt x="269822" y="2926258"/>
                  <a:pt x="396478" y="2910024"/>
                  <a:pt x="533317" y="2907735"/>
                </a:cubicBezTo>
                <a:cubicBezTo>
                  <a:pt x="1559606" y="2890571"/>
                  <a:pt x="2163137" y="3401988"/>
                  <a:pt x="2516906" y="3558655"/>
                </a:cubicBezTo>
                <a:lnTo>
                  <a:pt x="2542419" y="3568616"/>
                </a:lnTo>
                <a:lnTo>
                  <a:pt x="2607100" y="3608308"/>
                </a:lnTo>
                <a:cubicBezTo>
                  <a:pt x="2866745" y="3741243"/>
                  <a:pt x="3194928" y="3832171"/>
                  <a:pt x="3580199" y="3830188"/>
                </a:cubicBezTo>
                <a:cubicBezTo>
                  <a:pt x="4607589" y="3824901"/>
                  <a:pt x="5050658" y="2914049"/>
                  <a:pt x="6145368" y="2895740"/>
                </a:cubicBezTo>
                <a:cubicBezTo>
                  <a:pt x="6350626" y="2892307"/>
                  <a:pt x="6538973" y="2910018"/>
                  <a:pt x="6711794" y="2941805"/>
                </a:cubicBezTo>
                <a:lnTo>
                  <a:pt x="6858000" y="2973381"/>
                </a:lnTo>
                <a:lnTo>
                  <a:pt x="6858000" y="0"/>
                </a:lnTo>
                <a:lnTo>
                  <a:pt x="0" y="0"/>
                </a:lnTo>
                <a:close/>
              </a:path>
            </a:pathLst>
          </a:custGeom>
          <a:gradFill>
            <a:gsLst>
              <a:gs pos="45000">
                <a:schemeClr val="accent6">
                  <a:alpha val="29951"/>
                </a:schemeClr>
              </a:gs>
              <a:gs pos="99000">
                <a:schemeClr val="accent4">
                  <a:lumMod val="75000"/>
                  <a:alpha val="27340"/>
                </a:schemeClr>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0" name="Straight Connector 9">
            <a:extLst>
              <a:ext uri="{FF2B5EF4-FFF2-40B4-BE49-F238E27FC236}">
                <a16:creationId xmlns:a16="http://schemas.microsoft.com/office/drawing/2014/main" id="{4CA6FFAC-0E5C-DA2F-C0F9-D5602F928AEC}"/>
              </a:ext>
            </a:extLst>
          </p:cNvPr>
          <p:cNvCxnSpPr>
            <a:cxnSpLocks/>
          </p:cNvCxnSpPr>
          <p:nvPr userDrawn="1"/>
        </p:nvCxnSpPr>
        <p:spPr>
          <a:xfrm rot="5400000">
            <a:off x="7545111" y="2275586"/>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2635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F7D74-558F-4816-9367-4004FFA2B6A4}"/>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6069ADF-8CD9-4E77-BB8D-70D8824C5A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BE7B5E76-E101-4994-92F5-1F540EB16AB0}"/>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E249F242-2699-411D-B3F7-3D6D480E4955}"/>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30106943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Crypto: investing &amp; trading</a:t>
            </a:r>
            <a:endParaRPr lang="en-US" dirty="0"/>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4769475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28751072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BD6A3-F987-4FCC-A6EF-2EF0D33C08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467220-06E3-427A-B4D3-9B0030E09D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F5AEF53B-C85C-47DB-ADE4-C1D9FA682945}"/>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DFD4FD38-14E5-4C36-B948-8BF3F794ED8C}"/>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79920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F2A-1C19-4116-80DF-E24EDDF283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A489A7-7CA6-4CC9-B634-FCB2E102C6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DF5F80D-1DB9-4E0A-8F68-924FC1C9C3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08DA4DA3-10C7-48A6-9B15-38222B8CAD42}"/>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E584E7EE-5B3B-427E-9807-020AEF8C7662}"/>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Mod val="2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850392" y="832104"/>
            <a:ext cx="10881360" cy="1069848"/>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1014984" y="2212848"/>
            <a:ext cx="10332720" cy="3547872"/>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329184" y="411480"/>
            <a:ext cx="521208" cy="310896"/>
          </a:xfrm>
          <a:prstGeom prst="rect">
            <a:avLst/>
          </a:prstGeom>
        </p:spPr>
        <p:txBody>
          <a:bodyPr vert="horz" lIns="91440" tIns="45720" rIns="91440" bIns="45720" rtlCol="0" anchor="ctr">
            <a:noAutofit/>
          </a:bodyPr>
          <a:lstStyle>
            <a:lvl1pPr algn="ctr">
              <a:defRPr sz="1200" b="0" i="0">
                <a:solidFill>
                  <a:schemeClr val="bg1"/>
                </a:solidFill>
                <a:latin typeface="+mn-lt"/>
                <a:cs typeface="Segoe UI Light" panose="020B0502040204020203" pitchFamily="34" charset="0"/>
              </a:defRPr>
            </a:lvl1pPr>
          </a:lstStyle>
          <a:p>
            <a:fld id="{294A09A9-5501-47C1-A89A-A340965A2BE2}" type="slidenum">
              <a:rPr lang="en-US" smtClean="0"/>
              <a:pPr/>
              <a:t>‹#›</a:t>
            </a:fld>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66344" y="6190488"/>
            <a:ext cx="2331720" cy="274320"/>
          </a:xfrm>
          <a:prstGeom prst="rect">
            <a:avLst/>
          </a:prstGeom>
        </p:spPr>
        <p:txBody>
          <a:bodyPr vert="horz" lIns="91440" tIns="45720" rIns="91440" bIns="45720" rtlCol="0" anchor="ctr">
            <a:noAutofit/>
          </a:bodyPr>
          <a:lstStyle>
            <a:lvl1pPr algn="l">
              <a:defRPr sz="1200" b="0" i="0">
                <a:solidFill>
                  <a:schemeClr val="bg1"/>
                </a:solidFill>
                <a:latin typeface="+mn-lt"/>
                <a:cs typeface="Segoe UI Light" panose="020B0502040204020203" pitchFamily="34" charset="0"/>
              </a:defRPr>
            </a:lvl1pPr>
          </a:lstStyle>
          <a:p>
            <a:r>
              <a:rPr lang="en-US"/>
              <a:t>Crypto: investing &amp; trading</a:t>
            </a:r>
            <a:endParaRPr lang="en-US" dirty="0"/>
          </a:p>
        </p:txBody>
      </p:sp>
      <p:cxnSp>
        <p:nvCxnSpPr>
          <p:cNvPr id="7" name="Straight Connector 6">
            <a:extLst>
              <a:ext uri="{FF2B5EF4-FFF2-40B4-BE49-F238E27FC236}">
                <a16:creationId xmlns:a16="http://schemas.microsoft.com/office/drawing/2014/main" id="{2BA4A2D6-617E-EEA3-E4EE-5BDB472F6A43}"/>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70" r:id="rId7"/>
    <p:sldLayoutId id="2147483669" r:id="rId8"/>
    <p:sldLayoutId id="2147483653" r:id="rId9"/>
    <p:sldLayoutId id="2147483665" r:id="rId10"/>
    <p:sldLayoutId id="2147483666" r:id="rId11"/>
    <p:sldLayoutId id="2147483667" r:id="rId12"/>
    <p:sldLayoutId id="2147483668" r:id="rId13"/>
    <p:sldLayoutId id="2147483651" r:id="rId14"/>
    <p:sldLayoutId id="2147483652" r:id="rId15"/>
    <p:sldLayoutId id="2147483654" r:id="rId16"/>
    <p:sldLayoutId id="2147483655" r:id="rId17"/>
    <p:sldLayoutId id="2147483656" r:id="rId18"/>
    <p:sldLayoutId id="2147483657" r:id="rId19"/>
  </p:sldLayoutIdLst>
  <p:hf hdr="0" dt="0"/>
  <p:txStyles>
    <p:titleStyle>
      <a:lvl1pPr algn="l" defTabSz="914400" rtl="0" eaLnBrk="1" latinLnBrk="0" hangingPunct="1">
        <a:lnSpc>
          <a:spcPct val="90000"/>
        </a:lnSpc>
        <a:spcBef>
          <a:spcPct val="0"/>
        </a:spcBef>
        <a:buNone/>
        <a:defRPr sz="4000" b="1" kern="1200" cap="all" spc="600" baseline="0">
          <a:solidFill>
            <a:schemeClr val="bg1"/>
          </a:solidFill>
          <a:latin typeface="+mj-lt"/>
          <a:ea typeface="+mj-ea"/>
          <a:cs typeface="+mj-cs"/>
        </a:defRPr>
      </a:lvl1pPr>
    </p:titleStyle>
    <p:bodyStyle>
      <a:lvl1pPr marL="228600" indent="-347472" algn="l" defTabSz="914400" rtl="0" eaLnBrk="1" latinLnBrk="0" hangingPunct="1">
        <a:lnSpc>
          <a:spcPct val="90000"/>
        </a:lnSpc>
        <a:spcBef>
          <a:spcPts val="1000"/>
        </a:spcBef>
        <a:buClr>
          <a:schemeClr val="accent6"/>
        </a:buClr>
        <a:buFont typeface="Courier New" panose="02070309020205020404" pitchFamily="49" charset="0"/>
        <a:buChar char="o"/>
        <a:defRPr sz="2800" kern="1200">
          <a:solidFill>
            <a:schemeClr val="bg1"/>
          </a:solidFill>
          <a:latin typeface="+mn-lt"/>
          <a:ea typeface="+mn-ea"/>
          <a:cs typeface="Segoe UI" panose="020B0502040204020203" pitchFamily="34" charset="0"/>
        </a:defRPr>
      </a:lvl1pPr>
      <a:lvl2pPr marL="685800" indent="-347472" algn="l" defTabSz="914400" rtl="0" eaLnBrk="1" latinLnBrk="0" hangingPunct="1">
        <a:lnSpc>
          <a:spcPct val="90000"/>
        </a:lnSpc>
        <a:spcBef>
          <a:spcPts val="500"/>
        </a:spcBef>
        <a:buClr>
          <a:schemeClr val="accent6"/>
        </a:buClr>
        <a:buFont typeface="Courier New" panose="02070309020205020404" pitchFamily="49" charset="0"/>
        <a:buChar char="o"/>
        <a:defRPr sz="2400" kern="1200">
          <a:solidFill>
            <a:schemeClr val="bg1"/>
          </a:solidFill>
          <a:latin typeface="+mn-lt"/>
          <a:ea typeface="+mn-ea"/>
          <a:cs typeface="Segoe UI" panose="020B0502040204020203" pitchFamily="34" charset="0"/>
        </a:defRPr>
      </a:lvl2pPr>
      <a:lvl3pPr marL="1143000" indent="-347472" algn="l" defTabSz="914400" rtl="0" eaLnBrk="1" latinLnBrk="0" hangingPunct="1">
        <a:lnSpc>
          <a:spcPct val="90000"/>
        </a:lnSpc>
        <a:spcBef>
          <a:spcPts val="500"/>
        </a:spcBef>
        <a:buClr>
          <a:schemeClr val="accent6"/>
        </a:buClr>
        <a:buFont typeface="Courier New" panose="02070309020205020404" pitchFamily="49" charset="0"/>
        <a:buChar char="o"/>
        <a:defRPr sz="2000" kern="1200">
          <a:solidFill>
            <a:schemeClr val="bg1"/>
          </a:solidFill>
          <a:latin typeface="+mn-lt"/>
          <a:ea typeface="+mn-ea"/>
          <a:cs typeface="Segoe UI" panose="020B0502040204020203" pitchFamily="34" charset="0"/>
        </a:defRPr>
      </a:lvl3pPr>
      <a:lvl4pPr marL="16002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4pPr>
      <a:lvl5pPr marL="20574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openxmlformats.org/officeDocument/2006/relationships/hyperlink" Target="https://iabac.org/blog/impact-of-data-analytics-for-business"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8.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www.linkedin.com/in/bhoomika-chawhan-150207328" TargetMode="Externa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70DB4-0446-EF22-E8E0-3A5B83923AC0}"/>
              </a:ext>
            </a:extLst>
          </p:cNvPr>
          <p:cNvSpPr>
            <a:spLocks noGrp="1"/>
          </p:cNvSpPr>
          <p:nvPr>
            <p:ph type="ctrTitle"/>
          </p:nvPr>
        </p:nvSpPr>
        <p:spPr/>
        <p:txBody>
          <a:bodyPr/>
          <a:lstStyle/>
          <a:p>
            <a:r>
              <a:rPr lang="en-US" dirty="0"/>
              <a:t>CAPSTONE PROJECT-</a:t>
            </a:r>
            <a:br>
              <a:rPr lang="en-US" dirty="0"/>
            </a:br>
            <a:r>
              <a:rPr lang="en-US" dirty="0"/>
              <a:t>Northwind traders sales analysis</a:t>
            </a:r>
          </a:p>
        </p:txBody>
      </p:sp>
      <p:sp>
        <p:nvSpPr>
          <p:cNvPr id="3" name="Subtitle 2">
            <a:extLst>
              <a:ext uri="{FF2B5EF4-FFF2-40B4-BE49-F238E27FC236}">
                <a16:creationId xmlns:a16="http://schemas.microsoft.com/office/drawing/2014/main" id="{696329B1-2D04-0F3A-1081-C5117D8CE122}"/>
              </a:ext>
            </a:extLst>
          </p:cNvPr>
          <p:cNvSpPr>
            <a:spLocks noGrp="1"/>
          </p:cNvSpPr>
          <p:nvPr>
            <p:ph type="subTitle" idx="1"/>
          </p:nvPr>
        </p:nvSpPr>
        <p:spPr/>
        <p:txBody>
          <a:bodyPr/>
          <a:lstStyle/>
          <a:p>
            <a:r>
              <a:rPr lang="en-US" dirty="0" err="1"/>
              <a:t>Chawhan</a:t>
            </a:r>
            <a:r>
              <a:rPr lang="en-US" dirty="0"/>
              <a:t> Bhoomika</a:t>
            </a:r>
          </a:p>
          <a:p>
            <a:endParaRPr lang="en-US" dirty="0"/>
          </a:p>
        </p:txBody>
      </p:sp>
    </p:spTree>
    <p:extLst>
      <p:ext uri="{BB962C8B-B14F-4D97-AF65-F5344CB8AC3E}">
        <p14:creationId xmlns:p14="http://schemas.microsoft.com/office/powerpoint/2010/main" val="1723491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F0E99-07CC-9576-AFD7-C52151AD0EA3}"/>
              </a:ext>
            </a:extLst>
          </p:cNvPr>
          <p:cNvSpPr>
            <a:spLocks noGrp="1"/>
          </p:cNvSpPr>
          <p:nvPr>
            <p:ph type="ctrTitle"/>
          </p:nvPr>
        </p:nvSpPr>
        <p:spPr/>
        <p:txBody>
          <a:bodyPr/>
          <a:lstStyle/>
          <a:p>
            <a:r>
              <a:rPr lang="en-US" dirty="0"/>
              <a:t>INTRODUCTION</a:t>
            </a:r>
          </a:p>
        </p:txBody>
      </p:sp>
      <p:sp>
        <p:nvSpPr>
          <p:cNvPr id="3" name="Subtitle 2">
            <a:extLst>
              <a:ext uri="{FF2B5EF4-FFF2-40B4-BE49-F238E27FC236}">
                <a16:creationId xmlns:a16="http://schemas.microsoft.com/office/drawing/2014/main" id="{5A82A8B0-333F-633E-3FA7-D38DBFB10971}"/>
              </a:ext>
            </a:extLst>
          </p:cNvPr>
          <p:cNvSpPr>
            <a:spLocks noGrp="1"/>
          </p:cNvSpPr>
          <p:nvPr>
            <p:ph type="subTitle" idx="1"/>
          </p:nvPr>
        </p:nvSpPr>
        <p:spPr/>
        <p:txBody>
          <a:bodyPr/>
          <a:lstStyle/>
          <a:p>
            <a:r>
              <a:rPr lang="en-US" dirty="0"/>
              <a:t>This Power BI project focuses on analyzing sales performance using the Northwind dataset. It visualizes KPIs such as Total Sales, Orders, Customers, and Average Order Value, offering actionable insights into business growth, customer behavior, and employee performance.</a:t>
            </a:r>
          </a:p>
          <a:p>
            <a:endParaRPr lang="en-US" dirty="0"/>
          </a:p>
        </p:txBody>
      </p:sp>
    </p:spTree>
    <p:extLst>
      <p:ext uri="{BB962C8B-B14F-4D97-AF65-F5344CB8AC3E}">
        <p14:creationId xmlns:p14="http://schemas.microsoft.com/office/powerpoint/2010/main" val="33807598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310B5-D907-A977-7A9C-69F8BEB7BB3F}"/>
              </a:ext>
            </a:extLst>
          </p:cNvPr>
          <p:cNvSpPr>
            <a:spLocks noGrp="1"/>
          </p:cNvSpPr>
          <p:nvPr>
            <p:ph type="title"/>
          </p:nvPr>
        </p:nvSpPr>
        <p:spPr>
          <a:xfrm>
            <a:off x="5793638" y="1448410"/>
            <a:ext cx="5274260" cy="1477670"/>
          </a:xfrm>
        </p:spPr>
        <p:txBody>
          <a:bodyPr/>
          <a:lstStyle/>
          <a:p>
            <a:r>
              <a:rPr lang="en-IN" dirty="0"/>
              <a:t>Project Objectives</a:t>
            </a:r>
            <a:endParaRPr lang="en-US" dirty="0"/>
          </a:p>
        </p:txBody>
      </p:sp>
      <p:sp>
        <p:nvSpPr>
          <p:cNvPr id="3" name="Subtitle 2">
            <a:extLst>
              <a:ext uri="{FF2B5EF4-FFF2-40B4-BE49-F238E27FC236}">
                <a16:creationId xmlns:a16="http://schemas.microsoft.com/office/drawing/2014/main" id="{C05FF0B8-5B51-7376-0271-8D849CA3F8A8}"/>
              </a:ext>
            </a:extLst>
          </p:cNvPr>
          <p:cNvSpPr>
            <a:spLocks noGrp="1"/>
          </p:cNvSpPr>
          <p:nvPr>
            <p:ph type="body" idx="1"/>
          </p:nvPr>
        </p:nvSpPr>
        <p:spPr>
          <a:xfrm>
            <a:off x="5793638" y="3374136"/>
            <a:ext cx="5517490" cy="2395728"/>
          </a:xfrm>
        </p:spPr>
        <p:txBody>
          <a:bodyPr/>
          <a:lstStyle/>
          <a:p>
            <a:r>
              <a:rPr lang="en-US" dirty="0"/>
              <a:t>• To visualize key sales performance indicators.</a:t>
            </a:r>
          </a:p>
          <a:p>
            <a:r>
              <a:rPr lang="en-US" dirty="0"/>
              <a:t>• To analyze top products, customers, and employees.</a:t>
            </a:r>
          </a:p>
          <a:p>
            <a:r>
              <a:rPr lang="en-US" dirty="0"/>
              <a:t>• To study regional and category-wise sales performance.</a:t>
            </a:r>
          </a:p>
          <a:p>
            <a:r>
              <a:rPr lang="en-US" dirty="0"/>
              <a:t>• To build an interactive, data-driven dashboard for better decisions.</a:t>
            </a:r>
          </a:p>
          <a:p>
            <a:endParaRPr lang="en-US" dirty="0"/>
          </a:p>
        </p:txBody>
      </p:sp>
      <p:pic>
        <p:nvPicPr>
          <p:cNvPr id="5" name="Picture 4">
            <a:extLst>
              <a:ext uri="{FF2B5EF4-FFF2-40B4-BE49-F238E27FC236}">
                <a16:creationId xmlns:a16="http://schemas.microsoft.com/office/drawing/2014/main" id="{CBB46BA0-ABF8-42AC-D1BD-E40A93725226}"/>
              </a:ext>
            </a:extLst>
          </p:cNvPr>
          <p:cNvPicPr>
            <a:picLocks noChangeAspect="1"/>
          </p:cNvPicPr>
          <p:nvPr/>
        </p:nvPicPr>
        <p:blipFill>
          <a:blip r:embed="rId3">
            <a:alphaModFix amt="70000"/>
            <a:extLst>
              <a:ext uri="{837473B0-CC2E-450A-ABE3-18F120FF3D39}">
                <a1611:picAttrSrcUrl xmlns:a1611="http://schemas.microsoft.com/office/drawing/2016/11/main" r:id="rId4"/>
              </a:ext>
            </a:extLst>
          </a:blip>
          <a:stretch>
            <a:fillRect/>
          </a:stretch>
        </p:blipFill>
        <p:spPr>
          <a:xfrm>
            <a:off x="73152" y="66751"/>
            <a:ext cx="5505797" cy="6724498"/>
          </a:xfrm>
          <a:prstGeom prst="rect">
            <a:avLst/>
          </a:prstGeom>
          <a:ln>
            <a:noFill/>
          </a:ln>
          <a:effectLst>
            <a:softEdge rad="112500"/>
          </a:effectLst>
        </p:spPr>
      </p:pic>
    </p:spTree>
    <p:extLst>
      <p:ext uri="{BB962C8B-B14F-4D97-AF65-F5344CB8AC3E}">
        <p14:creationId xmlns:p14="http://schemas.microsoft.com/office/powerpoint/2010/main" val="5484762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A8E318B-D756-6C57-8657-96C836320839}"/>
              </a:ext>
            </a:extLst>
          </p:cNvPr>
          <p:cNvSpPr>
            <a:spLocks noGrp="1"/>
          </p:cNvSpPr>
          <p:nvPr>
            <p:ph type="sldNum" sz="quarter" idx="11"/>
          </p:nvPr>
        </p:nvSpPr>
        <p:spPr/>
        <p:txBody>
          <a:bodyPr/>
          <a:lstStyle/>
          <a:p>
            <a:r>
              <a:rPr lang="en-US" dirty="0"/>
              <a:t>4</a:t>
            </a:r>
          </a:p>
        </p:txBody>
      </p:sp>
      <p:sp>
        <p:nvSpPr>
          <p:cNvPr id="3" name="Footer Placeholder 2">
            <a:extLst>
              <a:ext uri="{FF2B5EF4-FFF2-40B4-BE49-F238E27FC236}">
                <a16:creationId xmlns:a16="http://schemas.microsoft.com/office/drawing/2014/main" id="{723252A1-51AE-36E1-CE3B-D88466BA8814}"/>
              </a:ext>
            </a:extLst>
          </p:cNvPr>
          <p:cNvSpPr>
            <a:spLocks noGrp="1"/>
          </p:cNvSpPr>
          <p:nvPr>
            <p:ph type="ftr" sz="quarter" idx="10"/>
          </p:nvPr>
        </p:nvSpPr>
        <p:spPr/>
        <p:txBody>
          <a:bodyPr/>
          <a:lstStyle/>
          <a:p>
            <a:r>
              <a:rPr lang="en-US" dirty="0"/>
              <a:t>Northwind Traders</a:t>
            </a:r>
          </a:p>
        </p:txBody>
      </p:sp>
      <p:sp>
        <p:nvSpPr>
          <p:cNvPr id="7" name="Content Placeholder 6">
            <a:extLst>
              <a:ext uri="{FF2B5EF4-FFF2-40B4-BE49-F238E27FC236}">
                <a16:creationId xmlns:a16="http://schemas.microsoft.com/office/drawing/2014/main" id="{14231E9D-6F37-38ED-1A7F-E83DE96A1BB1}"/>
              </a:ext>
            </a:extLst>
          </p:cNvPr>
          <p:cNvSpPr>
            <a:spLocks noGrp="1"/>
          </p:cNvSpPr>
          <p:nvPr>
            <p:ph idx="1"/>
          </p:nvPr>
        </p:nvSpPr>
        <p:spPr>
          <a:xfrm>
            <a:off x="1014983" y="1060704"/>
            <a:ext cx="10572293" cy="5404104"/>
          </a:xfrm>
        </p:spPr>
        <p:txBody>
          <a:bodyPr/>
          <a:lstStyle/>
          <a:p>
            <a:r>
              <a:rPr lang="en-US" sz="2400" dirty="0"/>
              <a:t>The </a:t>
            </a:r>
            <a:r>
              <a:rPr lang="en-US" sz="2400" b="1" dirty="0"/>
              <a:t>Northwind dataset</a:t>
            </a:r>
            <a:r>
              <a:rPr lang="en-US" sz="2400" dirty="0"/>
              <a:t> contains the sales data of a fictitious company called </a:t>
            </a:r>
            <a:r>
              <a:rPr lang="en-US" sz="2400" b="1" dirty="0"/>
              <a:t>“Northwind Traders.”</a:t>
            </a:r>
            <a:endParaRPr lang="en-US" sz="2400" dirty="0"/>
          </a:p>
          <a:p>
            <a:r>
              <a:rPr lang="en-US" sz="2400" dirty="0"/>
              <a:t>Northwind Traders is a global food import and export business that sells specialty food products worldwide.</a:t>
            </a:r>
          </a:p>
          <a:p>
            <a:r>
              <a:rPr lang="en-US" sz="2400" dirty="0"/>
              <a:t>This dataset simulates real-world business operations and provides data across multiple domains:</a:t>
            </a:r>
            <a:br>
              <a:rPr lang="en-US" sz="2400" dirty="0"/>
            </a:br>
            <a:r>
              <a:rPr lang="en-US" sz="2400" dirty="0"/>
              <a:t>• Customers</a:t>
            </a:r>
            <a:br>
              <a:rPr lang="en-US" sz="2400" dirty="0"/>
            </a:br>
            <a:r>
              <a:rPr lang="en-US" sz="2400" dirty="0"/>
              <a:t>• Employees</a:t>
            </a:r>
            <a:br>
              <a:rPr lang="en-US" sz="2400" dirty="0"/>
            </a:br>
            <a:r>
              <a:rPr lang="en-US" sz="2400" dirty="0"/>
              <a:t>• Orders and Order Details</a:t>
            </a:r>
            <a:br>
              <a:rPr lang="en-US" sz="2400" dirty="0"/>
            </a:br>
            <a:r>
              <a:rPr lang="en-US" sz="2400" dirty="0"/>
              <a:t>• Products, Categories, and Suppliers</a:t>
            </a:r>
            <a:br>
              <a:rPr lang="en-US" sz="2400" dirty="0"/>
            </a:br>
            <a:r>
              <a:rPr lang="en-US" sz="2400" dirty="0"/>
              <a:t>• Shippers (logistics details)</a:t>
            </a:r>
          </a:p>
          <a:p>
            <a:r>
              <a:rPr lang="en-US" sz="2400" dirty="0"/>
              <a:t>It serves as a comprehensive data source for analyzing </a:t>
            </a:r>
            <a:r>
              <a:rPr lang="en-US" sz="2400" b="1" dirty="0"/>
              <a:t>sales performance</a:t>
            </a:r>
            <a:r>
              <a:rPr lang="en-US" sz="2400" dirty="0"/>
              <a:t>, </a:t>
            </a:r>
            <a:r>
              <a:rPr lang="en-US" sz="2400" b="1" dirty="0"/>
              <a:t>employee efficiency</a:t>
            </a:r>
            <a:r>
              <a:rPr lang="en-US" sz="2400" dirty="0"/>
              <a:t>, and </a:t>
            </a:r>
            <a:r>
              <a:rPr lang="en-US" sz="2400" b="1" dirty="0"/>
              <a:t>customer relationships</a:t>
            </a:r>
            <a:r>
              <a:rPr lang="en-US" sz="2400" dirty="0"/>
              <a:t> using </a:t>
            </a:r>
            <a:r>
              <a:rPr lang="en-US" sz="2400" b="1" dirty="0"/>
              <a:t>Power BI</a:t>
            </a:r>
            <a:r>
              <a:rPr lang="en-US" sz="2400" dirty="0"/>
              <a:t>.</a:t>
            </a:r>
          </a:p>
        </p:txBody>
      </p:sp>
      <p:sp>
        <p:nvSpPr>
          <p:cNvPr id="10" name="Rectangle 3">
            <a:extLst>
              <a:ext uri="{FF2B5EF4-FFF2-40B4-BE49-F238E27FC236}">
                <a16:creationId xmlns:a16="http://schemas.microsoft.com/office/drawing/2014/main" id="{EA4AAF05-4C2A-0FC4-96A2-84B26A181945}"/>
              </a:ext>
            </a:extLst>
          </p:cNvPr>
          <p:cNvSpPr>
            <a:spLocks noGrp="1" noChangeArrowheads="1"/>
          </p:cNvSpPr>
          <p:nvPr>
            <p:ph type="title"/>
          </p:nvPr>
        </p:nvSpPr>
        <p:spPr bwMode="auto">
          <a:xfrm>
            <a:off x="850392" y="-491619"/>
            <a:ext cx="10824666" cy="1213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b="0" i="0" u="none" strike="noStrike" cap="none" normalizeH="0" baseline="0" dirty="0">
                <a:ln>
                  <a:noFill/>
                </a:ln>
                <a:effectLst/>
                <a:latin typeface="Arial" panose="020B0604020202020204" pitchFamily="34" charset="0"/>
              </a:rPr>
            </a:br>
            <a:r>
              <a:rPr kumimoji="0" lang="en-US" altLang="en-US" sz="3200" i="0" u="none" strike="noStrike" cap="none" normalizeH="0" baseline="0" dirty="0">
                <a:ln>
                  <a:noFill/>
                </a:ln>
                <a:effectLst/>
                <a:latin typeface="Arial Unicode MS"/>
              </a:rPr>
              <a:t>Dataset Description – Northwind Trader</a:t>
            </a:r>
            <a:r>
              <a:rPr kumimoji="0" lang="en-US" altLang="en-US" sz="3200" i="0" u="none" strike="noStrike" cap="none" normalizeH="0" baseline="0" dirty="0">
                <a:ln>
                  <a:noFill/>
                </a:ln>
                <a:effectLst/>
              </a:rPr>
              <a:t> </a:t>
            </a:r>
            <a:endParaRPr kumimoji="0" lang="en-US" altLang="en-US"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13726519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F090D-C862-CF85-1001-A82E54365597}"/>
              </a:ext>
            </a:extLst>
          </p:cNvPr>
          <p:cNvSpPr>
            <a:spLocks noGrp="1"/>
          </p:cNvSpPr>
          <p:nvPr>
            <p:ph type="ctrTitle"/>
          </p:nvPr>
        </p:nvSpPr>
        <p:spPr>
          <a:xfrm>
            <a:off x="2286000" y="117044"/>
            <a:ext cx="7384694" cy="768095"/>
          </a:xfrm>
        </p:spPr>
        <p:txBody>
          <a:bodyPr/>
          <a:lstStyle/>
          <a:p>
            <a:r>
              <a:rPr lang="en-IN" dirty="0"/>
              <a:t>Table Explanation</a:t>
            </a:r>
            <a:br>
              <a:rPr lang="en-US" dirty="0"/>
            </a:br>
            <a:endParaRPr lang="en-US" dirty="0"/>
          </a:p>
        </p:txBody>
      </p:sp>
      <p:sp>
        <p:nvSpPr>
          <p:cNvPr id="3" name="Subtitle 2">
            <a:extLst>
              <a:ext uri="{FF2B5EF4-FFF2-40B4-BE49-F238E27FC236}">
                <a16:creationId xmlns:a16="http://schemas.microsoft.com/office/drawing/2014/main" id="{4CE82C04-6445-9E02-B0E8-8D809278C37D}"/>
              </a:ext>
            </a:extLst>
          </p:cNvPr>
          <p:cNvSpPr>
            <a:spLocks noGrp="1"/>
          </p:cNvSpPr>
          <p:nvPr>
            <p:ph type="subTitle" idx="1"/>
          </p:nvPr>
        </p:nvSpPr>
        <p:spPr>
          <a:xfrm>
            <a:off x="285294" y="6409944"/>
            <a:ext cx="1843429" cy="331012"/>
          </a:xfrm>
        </p:spPr>
        <p:txBody>
          <a:bodyPr/>
          <a:lstStyle/>
          <a:p>
            <a:r>
              <a:rPr lang="en-US" sz="1100" dirty="0"/>
              <a:t>Northwind Traders</a:t>
            </a:r>
          </a:p>
          <a:p>
            <a:endParaRPr lang="en-US" dirty="0"/>
          </a:p>
        </p:txBody>
      </p:sp>
      <p:graphicFrame>
        <p:nvGraphicFramePr>
          <p:cNvPr id="10" name="Table 9">
            <a:extLst>
              <a:ext uri="{FF2B5EF4-FFF2-40B4-BE49-F238E27FC236}">
                <a16:creationId xmlns:a16="http://schemas.microsoft.com/office/drawing/2014/main" id="{4CD00D1F-C513-C660-5096-5446E937A137}"/>
              </a:ext>
            </a:extLst>
          </p:cNvPr>
          <p:cNvGraphicFramePr>
            <a:graphicFrameLocks noGrp="1"/>
          </p:cNvGraphicFramePr>
          <p:nvPr>
            <p:extLst>
              <p:ext uri="{D42A27DB-BD31-4B8C-83A1-F6EECF244321}">
                <p14:modId xmlns:p14="http://schemas.microsoft.com/office/powerpoint/2010/main" val="2484181327"/>
              </p:ext>
            </p:extLst>
          </p:nvPr>
        </p:nvGraphicFramePr>
        <p:xfrm>
          <a:off x="843686" y="811986"/>
          <a:ext cx="10180319" cy="5501033"/>
        </p:xfrm>
        <a:graphic>
          <a:graphicData uri="http://schemas.openxmlformats.org/drawingml/2006/table">
            <a:tbl>
              <a:tblPr firstRow="1" bandRow="1" bandCol="1">
                <a:tableStyleId>{7DF18680-E054-41AD-8BC1-D1AEF772440D}</a:tableStyleId>
              </a:tblPr>
              <a:tblGrid>
                <a:gridCol w="2042980">
                  <a:extLst>
                    <a:ext uri="{9D8B030D-6E8A-4147-A177-3AD203B41FA5}">
                      <a16:colId xmlns:a16="http://schemas.microsoft.com/office/drawing/2014/main" val="2704871870"/>
                    </a:ext>
                  </a:extLst>
                </a:gridCol>
                <a:gridCol w="8137339">
                  <a:extLst>
                    <a:ext uri="{9D8B030D-6E8A-4147-A177-3AD203B41FA5}">
                      <a16:colId xmlns:a16="http://schemas.microsoft.com/office/drawing/2014/main" val="421180078"/>
                    </a:ext>
                  </a:extLst>
                </a:gridCol>
              </a:tblGrid>
              <a:tr h="409735">
                <a:tc>
                  <a:txBody>
                    <a:bodyPr/>
                    <a:lstStyle/>
                    <a:p>
                      <a:r>
                        <a:rPr lang="en-IN" b="1" dirty="0"/>
                        <a:t>Table Name</a:t>
                      </a:r>
                      <a:endParaRPr lang="en-IN" dirty="0"/>
                    </a:p>
                  </a:txBody>
                  <a:tcPr anchor="ctr"/>
                </a:tc>
                <a:tc>
                  <a:txBody>
                    <a:bodyPr/>
                    <a:lstStyle/>
                    <a:p>
                      <a:r>
                        <a:rPr lang="en-IN" b="1" dirty="0"/>
                        <a:t>Description / Purpose</a:t>
                      </a:r>
                      <a:endParaRPr lang="en-IN" dirty="0"/>
                    </a:p>
                  </a:txBody>
                  <a:tcPr anchor="ctr"/>
                </a:tc>
                <a:extLst>
                  <a:ext uri="{0D108BD9-81ED-4DB2-BD59-A6C34878D82A}">
                    <a16:rowId xmlns:a16="http://schemas.microsoft.com/office/drawing/2014/main" val="1647877031"/>
                  </a:ext>
                </a:extLst>
              </a:tr>
              <a:tr h="651850">
                <a:tc>
                  <a:txBody>
                    <a:bodyPr/>
                    <a:lstStyle/>
                    <a:p>
                      <a:r>
                        <a:rPr lang="en-IN" b="1" dirty="0"/>
                        <a:t>Customers</a:t>
                      </a:r>
                      <a:endParaRPr lang="en-IN" dirty="0"/>
                    </a:p>
                  </a:txBody>
                  <a:tcPr anchor="ctr"/>
                </a:tc>
                <a:tc>
                  <a:txBody>
                    <a:bodyPr/>
                    <a:lstStyle/>
                    <a:p>
                      <a:r>
                        <a:rPr lang="en-US" dirty="0"/>
                        <a:t>Stores details about the company’s customers, including names, contact information, and locations.</a:t>
                      </a:r>
                    </a:p>
                  </a:txBody>
                  <a:tcPr anchor="ctr"/>
                </a:tc>
                <a:extLst>
                  <a:ext uri="{0D108BD9-81ED-4DB2-BD59-A6C34878D82A}">
                    <a16:rowId xmlns:a16="http://schemas.microsoft.com/office/drawing/2014/main" val="714960248"/>
                  </a:ext>
                </a:extLst>
              </a:tr>
              <a:tr h="651850">
                <a:tc>
                  <a:txBody>
                    <a:bodyPr/>
                    <a:lstStyle/>
                    <a:p>
                      <a:r>
                        <a:rPr lang="en-IN" b="1"/>
                        <a:t>Employees</a:t>
                      </a:r>
                      <a:endParaRPr lang="en-IN"/>
                    </a:p>
                  </a:txBody>
                  <a:tcPr anchor="ctr"/>
                </a:tc>
                <a:tc>
                  <a:txBody>
                    <a:bodyPr/>
                    <a:lstStyle/>
                    <a:p>
                      <a:r>
                        <a:rPr lang="en-US"/>
                        <a:t>Contains employee information such as names, titles, hire dates, and reporting hierarchy.</a:t>
                      </a:r>
                    </a:p>
                  </a:txBody>
                  <a:tcPr anchor="ctr"/>
                </a:tc>
                <a:extLst>
                  <a:ext uri="{0D108BD9-81ED-4DB2-BD59-A6C34878D82A}">
                    <a16:rowId xmlns:a16="http://schemas.microsoft.com/office/drawing/2014/main" val="1529736374"/>
                  </a:ext>
                </a:extLst>
              </a:tr>
              <a:tr h="651850">
                <a:tc>
                  <a:txBody>
                    <a:bodyPr/>
                    <a:lstStyle/>
                    <a:p>
                      <a:r>
                        <a:rPr lang="en-IN" b="1"/>
                        <a:t>Orders</a:t>
                      </a:r>
                      <a:endParaRPr lang="en-IN"/>
                    </a:p>
                  </a:txBody>
                  <a:tcPr anchor="ctr"/>
                </a:tc>
                <a:tc>
                  <a:txBody>
                    <a:bodyPr/>
                    <a:lstStyle/>
                    <a:p>
                      <a:r>
                        <a:rPr lang="en-US"/>
                        <a:t>Holds order-level data, including customer, employee, shipping details, and order dates.</a:t>
                      </a:r>
                    </a:p>
                  </a:txBody>
                  <a:tcPr anchor="ctr"/>
                </a:tc>
                <a:extLst>
                  <a:ext uri="{0D108BD9-81ED-4DB2-BD59-A6C34878D82A}">
                    <a16:rowId xmlns:a16="http://schemas.microsoft.com/office/drawing/2014/main" val="3708548132"/>
                  </a:ext>
                </a:extLst>
              </a:tr>
              <a:tr h="651850">
                <a:tc>
                  <a:txBody>
                    <a:bodyPr/>
                    <a:lstStyle/>
                    <a:p>
                      <a:r>
                        <a:rPr lang="en-IN" b="1"/>
                        <a:t>Order Details</a:t>
                      </a:r>
                      <a:endParaRPr lang="en-IN"/>
                    </a:p>
                  </a:txBody>
                  <a:tcPr anchor="ctr"/>
                </a:tc>
                <a:tc>
                  <a:txBody>
                    <a:bodyPr/>
                    <a:lstStyle/>
                    <a:p>
                      <a:r>
                        <a:rPr lang="en-US"/>
                        <a:t>Contains line-item details for each order — products sold, quantities, prices, and discounts.</a:t>
                      </a:r>
                    </a:p>
                  </a:txBody>
                  <a:tcPr anchor="ctr"/>
                </a:tc>
                <a:extLst>
                  <a:ext uri="{0D108BD9-81ED-4DB2-BD59-A6C34878D82A}">
                    <a16:rowId xmlns:a16="http://schemas.microsoft.com/office/drawing/2014/main" val="2590217459"/>
                  </a:ext>
                </a:extLst>
              </a:tr>
              <a:tr h="651850">
                <a:tc>
                  <a:txBody>
                    <a:bodyPr/>
                    <a:lstStyle/>
                    <a:p>
                      <a:r>
                        <a:rPr lang="en-IN" b="1"/>
                        <a:t>Products</a:t>
                      </a:r>
                      <a:endParaRPr lang="en-IN"/>
                    </a:p>
                  </a:txBody>
                  <a:tcPr anchor="ctr"/>
                </a:tc>
                <a:tc>
                  <a:txBody>
                    <a:bodyPr/>
                    <a:lstStyle/>
                    <a:p>
                      <a:r>
                        <a:rPr lang="en-US" dirty="0"/>
                        <a:t>Includes product details such as category, supplier, unit price, stock levels, and reorder information.</a:t>
                      </a:r>
                    </a:p>
                  </a:txBody>
                  <a:tcPr anchor="ctr"/>
                </a:tc>
                <a:extLst>
                  <a:ext uri="{0D108BD9-81ED-4DB2-BD59-A6C34878D82A}">
                    <a16:rowId xmlns:a16="http://schemas.microsoft.com/office/drawing/2014/main" val="781431171"/>
                  </a:ext>
                </a:extLst>
              </a:tr>
              <a:tr h="630578">
                <a:tc>
                  <a:txBody>
                    <a:bodyPr/>
                    <a:lstStyle/>
                    <a:p>
                      <a:r>
                        <a:rPr lang="en-IN" b="1"/>
                        <a:t>Suppliers</a:t>
                      </a:r>
                      <a:endParaRPr lang="en-IN"/>
                    </a:p>
                  </a:txBody>
                  <a:tcPr anchor="ctr"/>
                </a:tc>
                <a:tc>
                  <a:txBody>
                    <a:bodyPr/>
                    <a:lstStyle/>
                    <a:p>
                      <a:r>
                        <a:rPr lang="en-US"/>
                        <a:t>Lists all suppliers providing products, along with contact and location information.</a:t>
                      </a:r>
                    </a:p>
                  </a:txBody>
                  <a:tcPr anchor="ctr"/>
                </a:tc>
                <a:extLst>
                  <a:ext uri="{0D108BD9-81ED-4DB2-BD59-A6C34878D82A}">
                    <a16:rowId xmlns:a16="http://schemas.microsoft.com/office/drawing/2014/main" val="1150267453"/>
                  </a:ext>
                </a:extLst>
              </a:tr>
              <a:tr h="630578">
                <a:tc>
                  <a:txBody>
                    <a:bodyPr/>
                    <a:lstStyle/>
                    <a:p>
                      <a:r>
                        <a:rPr lang="en-IN" b="1"/>
                        <a:t>Shippers</a:t>
                      </a:r>
                      <a:endParaRPr lang="en-IN"/>
                    </a:p>
                  </a:txBody>
                  <a:tcPr anchor="ctr"/>
                </a:tc>
                <a:tc>
                  <a:txBody>
                    <a:bodyPr/>
                    <a:lstStyle/>
                    <a:p>
                      <a:r>
                        <a:rPr lang="en-US"/>
                        <a:t>Stores details about shipping companies responsible for product delivery.</a:t>
                      </a:r>
                    </a:p>
                  </a:txBody>
                  <a:tcPr anchor="ctr"/>
                </a:tc>
                <a:extLst>
                  <a:ext uri="{0D108BD9-81ED-4DB2-BD59-A6C34878D82A}">
                    <a16:rowId xmlns:a16="http://schemas.microsoft.com/office/drawing/2014/main" val="119601225"/>
                  </a:ext>
                </a:extLst>
              </a:tr>
              <a:tr h="570892">
                <a:tc>
                  <a:txBody>
                    <a:bodyPr/>
                    <a:lstStyle/>
                    <a:p>
                      <a:r>
                        <a:rPr lang="en-IN" b="1" dirty="0"/>
                        <a:t>Categories</a:t>
                      </a:r>
                      <a:endParaRPr lang="en-IN" dirty="0"/>
                    </a:p>
                  </a:txBody>
                  <a:tcPr anchor="ctr"/>
                </a:tc>
                <a:tc>
                  <a:txBody>
                    <a:bodyPr/>
                    <a:lstStyle/>
                    <a:p>
                      <a:r>
                        <a:rPr lang="en-US" dirty="0"/>
                        <a:t>Defines product categories used for grouping and analysis in sales reports.</a:t>
                      </a:r>
                    </a:p>
                  </a:txBody>
                  <a:tcPr anchor="ctr"/>
                </a:tc>
                <a:extLst>
                  <a:ext uri="{0D108BD9-81ED-4DB2-BD59-A6C34878D82A}">
                    <a16:rowId xmlns:a16="http://schemas.microsoft.com/office/drawing/2014/main" val="2759712579"/>
                  </a:ext>
                </a:extLst>
              </a:tr>
            </a:tbl>
          </a:graphicData>
        </a:graphic>
      </p:graphicFrame>
    </p:spTree>
    <p:extLst>
      <p:ext uri="{BB962C8B-B14F-4D97-AF65-F5344CB8AC3E}">
        <p14:creationId xmlns:p14="http://schemas.microsoft.com/office/powerpoint/2010/main" val="1213210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5577A64-4E94-69E1-3180-1E014BD06B3C}"/>
              </a:ext>
            </a:extLst>
          </p:cNvPr>
          <p:cNvSpPr>
            <a:spLocks noGrp="1"/>
          </p:cNvSpPr>
          <p:nvPr>
            <p:ph type="sldNum" sz="quarter" idx="11"/>
          </p:nvPr>
        </p:nvSpPr>
        <p:spPr/>
        <p:txBody>
          <a:bodyPr/>
          <a:lstStyle/>
          <a:p>
            <a:r>
              <a:rPr lang="en-US" dirty="0"/>
              <a:t>6</a:t>
            </a:r>
          </a:p>
        </p:txBody>
      </p:sp>
      <p:sp>
        <p:nvSpPr>
          <p:cNvPr id="7" name="Footer Placeholder 6">
            <a:extLst>
              <a:ext uri="{FF2B5EF4-FFF2-40B4-BE49-F238E27FC236}">
                <a16:creationId xmlns:a16="http://schemas.microsoft.com/office/drawing/2014/main" id="{A9F57080-19CA-8BBA-6050-8494551D4615}"/>
              </a:ext>
            </a:extLst>
          </p:cNvPr>
          <p:cNvSpPr>
            <a:spLocks noGrp="1"/>
          </p:cNvSpPr>
          <p:nvPr>
            <p:ph type="ftr" sz="quarter" idx="10"/>
          </p:nvPr>
        </p:nvSpPr>
        <p:spPr/>
        <p:txBody>
          <a:bodyPr/>
          <a:lstStyle/>
          <a:p>
            <a:r>
              <a:rPr lang="en-US" dirty="0"/>
              <a:t>Northwind Traders</a:t>
            </a:r>
          </a:p>
        </p:txBody>
      </p:sp>
      <p:sp>
        <p:nvSpPr>
          <p:cNvPr id="2" name="Title 1">
            <a:extLst>
              <a:ext uri="{FF2B5EF4-FFF2-40B4-BE49-F238E27FC236}">
                <a16:creationId xmlns:a16="http://schemas.microsoft.com/office/drawing/2014/main" id="{D249E45E-D6A7-9780-F652-BAF86DFBCC00}"/>
              </a:ext>
            </a:extLst>
          </p:cNvPr>
          <p:cNvSpPr>
            <a:spLocks noGrp="1"/>
          </p:cNvSpPr>
          <p:nvPr>
            <p:ph type="title"/>
          </p:nvPr>
        </p:nvSpPr>
        <p:spPr/>
        <p:txBody>
          <a:bodyPr/>
          <a:lstStyle/>
          <a:p>
            <a:r>
              <a:rPr lang="en-IN" dirty="0"/>
              <a:t>Tools and Technologies</a:t>
            </a:r>
            <a:endParaRPr lang="en-US" dirty="0"/>
          </a:p>
        </p:txBody>
      </p:sp>
      <p:sp>
        <p:nvSpPr>
          <p:cNvPr id="3" name="Text Placeholder 2">
            <a:extLst>
              <a:ext uri="{FF2B5EF4-FFF2-40B4-BE49-F238E27FC236}">
                <a16:creationId xmlns:a16="http://schemas.microsoft.com/office/drawing/2014/main" id="{C31605EE-24B6-95D8-DE5E-BEC2F03ECECA}"/>
              </a:ext>
            </a:extLst>
          </p:cNvPr>
          <p:cNvSpPr>
            <a:spLocks noGrp="1"/>
          </p:cNvSpPr>
          <p:nvPr>
            <p:ph idx="1"/>
          </p:nvPr>
        </p:nvSpPr>
        <p:spPr/>
        <p:txBody>
          <a:bodyPr/>
          <a:lstStyle/>
          <a:p>
            <a:r>
              <a:rPr lang="en-US" dirty="0"/>
              <a:t>Power BI – Data modeling and visualization.</a:t>
            </a:r>
          </a:p>
          <a:p>
            <a:r>
              <a:rPr lang="en-US" dirty="0"/>
              <a:t>Excel – Data preparation and analysis.</a:t>
            </a:r>
          </a:p>
          <a:p>
            <a:r>
              <a:rPr lang="en-US" dirty="0"/>
              <a:t>SQL – Data extraction and transformation.</a:t>
            </a:r>
          </a:p>
          <a:p>
            <a:r>
              <a:rPr lang="en-US" dirty="0"/>
              <a:t>DAX – Calculations for KPIs and measures.</a:t>
            </a:r>
          </a:p>
          <a:p>
            <a:endParaRPr lang="en-US" dirty="0"/>
          </a:p>
        </p:txBody>
      </p:sp>
    </p:spTree>
    <p:extLst>
      <p:ext uri="{BB962C8B-B14F-4D97-AF65-F5344CB8AC3E}">
        <p14:creationId xmlns:p14="http://schemas.microsoft.com/office/powerpoint/2010/main" val="765210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Title 105">
            <a:extLst>
              <a:ext uri="{FF2B5EF4-FFF2-40B4-BE49-F238E27FC236}">
                <a16:creationId xmlns:a16="http://schemas.microsoft.com/office/drawing/2014/main" id="{734F8B63-0C1D-770B-CA9D-EE7ACF817C1F}"/>
              </a:ext>
            </a:extLst>
          </p:cNvPr>
          <p:cNvSpPr>
            <a:spLocks noGrp="1"/>
          </p:cNvSpPr>
          <p:nvPr>
            <p:ph type="title"/>
          </p:nvPr>
        </p:nvSpPr>
        <p:spPr/>
        <p:txBody>
          <a:bodyPr/>
          <a:lstStyle/>
          <a:p>
            <a:r>
              <a:rPr lang="en-US" dirty="0"/>
              <a:t>Data connection-power bi</a:t>
            </a:r>
          </a:p>
        </p:txBody>
      </p:sp>
      <p:sp>
        <p:nvSpPr>
          <p:cNvPr id="139" name="Slide Number Placeholder 138">
            <a:extLst>
              <a:ext uri="{FF2B5EF4-FFF2-40B4-BE49-F238E27FC236}">
                <a16:creationId xmlns:a16="http://schemas.microsoft.com/office/drawing/2014/main" id="{0C6CCCC3-BCC9-AE9B-C2AE-4D9986B5F8AE}"/>
              </a:ext>
            </a:extLst>
          </p:cNvPr>
          <p:cNvSpPr>
            <a:spLocks noGrp="1"/>
          </p:cNvSpPr>
          <p:nvPr>
            <p:ph type="sldNum" sz="quarter" idx="11"/>
          </p:nvPr>
        </p:nvSpPr>
        <p:spPr/>
        <p:txBody>
          <a:bodyPr/>
          <a:lstStyle/>
          <a:p>
            <a:fld id="{294A09A9-5501-47C1-A89A-A340965A2BE2}" type="slidenum">
              <a:rPr lang="en-US" smtClean="0"/>
              <a:pPr/>
              <a:t>7</a:t>
            </a:fld>
            <a:endParaRPr lang="en-US" dirty="0"/>
          </a:p>
        </p:txBody>
      </p:sp>
      <p:sp>
        <p:nvSpPr>
          <p:cNvPr id="3" name="Text Placeholder 2">
            <a:extLst>
              <a:ext uri="{FF2B5EF4-FFF2-40B4-BE49-F238E27FC236}">
                <a16:creationId xmlns:a16="http://schemas.microsoft.com/office/drawing/2014/main" id="{0CF4EECB-47E7-26A0-F3A1-ACAE7AEE5741}"/>
              </a:ext>
            </a:extLst>
          </p:cNvPr>
          <p:cNvSpPr>
            <a:spLocks noGrp="1"/>
          </p:cNvSpPr>
          <p:nvPr>
            <p:ph type="body" sz="quarter" idx="12"/>
          </p:nvPr>
        </p:nvSpPr>
        <p:spPr/>
        <p:txBody>
          <a:bodyPr/>
          <a:lstStyle/>
          <a:p>
            <a:r>
              <a:rPr lang="en-US" dirty="0"/>
              <a:t>Step 1</a:t>
            </a:r>
          </a:p>
        </p:txBody>
      </p:sp>
      <p:sp>
        <p:nvSpPr>
          <p:cNvPr id="133" name="Text Placeholder 132">
            <a:extLst>
              <a:ext uri="{FF2B5EF4-FFF2-40B4-BE49-F238E27FC236}">
                <a16:creationId xmlns:a16="http://schemas.microsoft.com/office/drawing/2014/main" id="{0D7DF893-CDC1-A213-86BF-C9C73F979CC5}"/>
              </a:ext>
            </a:extLst>
          </p:cNvPr>
          <p:cNvSpPr>
            <a:spLocks noGrp="1"/>
          </p:cNvSpPr>
          <p:nvPr>
            <p:ph type="body" sz="quarter" idx="28"/>
          </p:nvPr>
        </p:nvSpPr>
        <p:spPr/>
        <p:txBody>
          <a:bodyPr/>
          <a:lstStyle/>
          <a:p>
            <a:endParaRPr lang="en-US" dirty="0"/>
          </a:p>
        </p:txBody>
      </p:sp>
      <p:sp>
        <p:nvSpPr>
          <p:cNvPr id="5" name="Text Placeholder 4">
            <a:extLst>
              <a:ext uri="{FF2B5EF4-FFF2-40B4-BE49-F238E27FC236}">
                <a16:creationId xmlns:a16="http://schemas.microsoft.com/office/drawing/2014/main" id="{AC2F0535-53EA-30FB-770D-0C92BEEF3F6D}"/>
              </a:ext>
            </a:extLst>
          </p:cNvPr>
          <p:cNvSpPr>
            <a:spLocks noGrp="1"/>
          </p:cNvSpPr>
          <p:nvPr>
            <p:ph type="body" sz="quarter" idx="14"/>
          </p:nvPr>
        </p:nvSpPr>
        <p:spPr/>
        <p:txBody>
          <a:bodyPr/>
          <a:lstStyle/>
          <a:p>
            <a:pPr lvl="0"/>
            <a:r>
              <a:rPr lang="en-US" dirty="0"/>
              <a:t>Step 2</a:t>
            </a:r>
          </a:p>
        </p:txBody>
      </p:sp>
      <p:sp>
        <p:nvSpPr>
          <p:cNvPr id="134" name="Text Placeholder 133">
            <a:extLst>
              <a:ext uri="{FF2B5EF4-FFF2-40B4-BE49-F238E27FC236}">
                <a16:creationId xmlns:a16="http://schemas.microsoft.com/office/drawing/2014/main" id="{9CE100CE-4574-F901-234D-B9BEED642B9B}"/>
              </a:ext>
            </a:extLst>
          </p:cNvPr>
          <p:cNvSpPr>
            <a:spLocks noGrp="1"/>
          </p:cNvSpPr>
          <p:nvPr>
            <p:ph type="body" sz="quarter" idx="29"/>
          </p:nvPr>
        </p:nvSpPr>
        <p:spPr/>
        <p:txBody>
          <a:bodyPr/>
          <a:lstStyle/>
          <a:p>
            <a:endParaRPr lang="en-US" dirty="0"/>
          </a:p>
        </p:txBody>
      </p:sp>
      <p:sp>
        <p:nvSpPr>
          <p:cNvPr id="7" name="Text Placeholder 6">
            <a:extLst>
              <a:ext uri="{FF2B5EF4-FFF2-40B4-BE49-F238E27FC236}">
                <a16:creationId xmlns:a16="http://schemas.microsoft.com/office/drawing/2014/main" id="{31511481-29C6-275B-963E-B5AF2E87ADA2}"/>
              </a:ext>
            </a:extLst>
          </p:cNvPr>
          <p:cNvSpPr>
            <a:spLocks noGrp="1"/>
          </p:cNvSpPr>
          <p:nvPr>
            <p:ph type="body" sz="quarter" idx="16"/>
          </p:nvPr>
        </p:nvSpPr>
        <p:spPr/>
        <p:txBody>
          <a:bodyPr/>
          <a:lstStyle/>
          <a:p>
            <a:pPr lvl="0"/>
            <a:r>
              <a:rPr lang="en-US" dirty="0"/>
              <a:t>Step 3</a:t>
            </a:r>
          </a:p>
        </p:txBody>
      </p:sp>
      <p:sp>
        <p:nvSpPr>
          <p:cNvPr id="135" name="Text Placeholder 134">
            <a:extLst>
              <a:ext uri="{FF2B5EF4-FFF2-40B4-BE49-F238E27FC236}">
                <a16:creationId xmlns:a16="http://schemas.microsoft.com/office/drawing/2014/main" id="{288EBDBE-0ABC-82CE-4598-09F65E315AD7}"/>
              </a:ext>
            </a:extLst>
          </p:cNvPr>
          <p:cNvSpPr>
            <a:spLocks noGrp="1"/>
          </p:cNvSpPr>
          <p:nvPr>
            <p:ph type="body" sz="quarter" idx="30"/>
          </p:nvPr>
        </p:nvSpPr>
        <p:spPr/>
        <p:txBody>
          <a:bodyPr/>
          <a:lstStyle/>
          <a:p>
            <a:endParaRPr lang="en-US" dirty="0"/>
          </a:p>
        </p:txBody>
      </p:sp>
      <p:sp>
        <p:nvSpPr>
          <p:cNvPr id="9" name="Text Placeholder 8">
            <a:extLst>
              <a:ext uri="{FF2B5EF4-FFF2-40B4-BE49-F238E27FC236}">
                <a16:creationId xmlns:a16="http://schemas.microsoft.com/office/drawing/2014/main" id="{2F32973A-CF94-1C2B-BB12-B563173CC79A}"/>
              </a:ext>
            </a:extLst>
          </p:cNvPr>
          <p:cNvSpPr>
            <a:spLocks noGrp="1"/>
          </p:cNvSpPr>
          <p:nvPr>
            <p:ph type="body" sz="quarter" idx="18"/>
          </p:nvPr>
        </p:nvSpPr>
        <p:spPr/>
        <p:txBody>
          <a:bodyPr/>
          <a:lstStyle/>
          <a:p>
            <a:pPr lvl="0"/>
            <a:r>
              <a:rPr lang="en-US" dirty="0"/>
              <a:t>Step 4</a:t>
            </a:r>
          </a:p>
        </p:txBody>
      </p:sp>
      <p:sp>
        <p:nvSpPr>
          <p:cNvPr id="136" name="Text Placeholder 135">
            <a:extLst>
              <a:ext uri="{FF2B5EF4-FFF2-40B4-BE49-F238E27FC236}">
                <a16:creationId xmlns:a16="http://schemas.microsoft.com/office/drawing/2014/main" id="{14F6CD04-2A18-A6BD-AAB9-1D30D1563399}"/>
              </a:ext>
            </a:extLst>
          </p:cNvPr>
          <p:cNvSpPr>
            <a:spLocks noGrp="1"/>
          </p:cNvSpPr>
          <p:nvPr>
            <p:ph type="body" sz="quarter" idx="31"/>
          </p:nvPr>
        </p:nvSpPr>
        <p:spPr/>
        <p:txBody>
          <a:bodyPr/>
          <a:lstStyle/>
          <a:p>
            <a:endParaRPr lang="en-US" dirty="0"/>
          </a:p>
        </p:txBody>
      </p:sp>
      <p:sp>
        <p:nvSpPr>
          <p:cNvPr id="11" name="Text Placeholder 10">
            <a:extLst>
              <a:ext uri="{FF2B5EF4-FFF2-40B4-BE49-F238E27FC236}">
                <a16:creationId xmlns:a16="http://schemas.microsoft.com/office/drawing/2014/main" id="{CE7AA813-84F0-DB50-F6B6-A29A94662DAD}"/>
              </a:ext>
            </a:extLst>
          </p:cNvPr>
          <p:cNvSpPr>
            <a:spLocks noGrp="1"/>
          </p:cNvSpPr>
          <p:nvPr>
            <p:ph type="body" sz="quarter" idx="20"/>
          </p:nvPr>
        </p:nvSpPr>
        <p:spPr/>
        <p:txBody>
          <a:bodyPr/>
          <a:lstStyle/>
          <a:p>
            <a:pPr lvl="0"/>
            <a:r>
              <a:rPr lang="en-US" dirty="0"/>
              <a:t>Step 5</a:t>
            </a:r>
          </a:p>
        </p:txBody>
      </p:sp>
      <p:sp>
        <p:nvSpPr>
          <p:cNvPr id="137" name="Text Placeholder 136">
            <a:extLst>
              <a:ext uri="{FF2B5EF4-FFF2-40B4-BE49-F238E27FC236}">
                <a16:creationId xmlns:a16="http://schemas.microsoft.com/office/drawing/2014/main" id="{C171CBDB-4593-F4D1-30E9-A47F4C7CADAF}"/>
              </a:ext>
            </a:extLst>
          </p:cNvPr>
          <p:cNvSpPr>
            <a:spLocks noGrp="1"/>
          </p:cNvSpPr>
          <p:nvPr>
            <p:ph type="body" sz="quarter" idx="32"/>
          </p:nvPr>
        </p:nvSpPr>
        <p:spPr/>
        <p:txBody>
          <a:bodyPr/>
          <a:lstStyle/>
          <a:p>
            <a:endParaRPr lang="en-US" dirty="0"/>
          </a:p>
        </p:txBody>
      </p:sp>
      <p:sp>
        <p:nvSpPr>
          <p:cNvPr id="70" name="Text Placeholder 69">
            <a:extLst>
              <a:ext uri="{FF2B5EF4-FFF2-40B4-BE49-F238E27FC236}">
                <a16:creationId xmlns:a16="http://schemas.microsoft.com/office/drawing/2014/main" id="{38FF6C9F-C7C5-37D5-4C61-BA14A636B732}"/>
              </a:ext>
            </a:extLst>
          </p:cNvPr>
          <p:cNvSpPr>
            <a:spLocks noGrp="1"/>
          </p:cNvSpPr>
          <p:nvPr>
            <p:ph type="body" sz="quarter" idx="15"/>
          </p:nvPr>
        </p:nvSpPr>
        <p:spPr/>
        <p:txBody>
          <a:bodyPr/>
          <a:lstStyle/>
          <a:p>
            <a:r>
              <a:rPr lang="en-IN" sz="1400" dirty="0"/>
              <a:t>Open </a:t>
            </a:r>
            <a:r>
              <a:rPr lang="en-IN" sz="1400" b="1" dirty="0"/>
              <a:t>Power BI Desktop</a:t>
            </a:r>
            <a:r>
              <a:rPr lang="en-IN" sz="1400" dirty="0"/>
              <a:t> → Click </a:t>
            </a:r>
            <a:r>
              <a:rPr lang="en-IN" sz="1400" b="1" dirty="0"/>
              <a:t>Get Data → Text/CSV</a:t>
            </a:r>
            <a:r>
              <a:rPr lang="en-IN" sz="1400" dirty="0"/>
              <a:t> (or Excel).</a:t>
            </a:r>
            <a:endParaRPr lang="en-US" sz="1400" dirty="0"/>
          </a:p>
          <a:p>
            <a:endParaRPr lang="en-US" dirty="0"/>
          </a:p>
        </p:txBody>
      </p:sp>
      <p:sp>
        <p:nvSpPr>
          <p:cNvPr id="71" name="Text Placeholder 70">
            <a:extLst>
              <a:ext uri="{FF2B5EF4-FFF2-40B4-BE49-F238E27FC236}">
                <a16:creationId xmlns:a16="http://schemas.microsoft.com/office/drawing/2014/main" id="{5973BD56-1612-983E-EA67-F4039B062085}"/>
              </a:ext>
            </a:extLst>
          </p:cNvPr>
          <p:cNvSpPr>
            <a:spLocks noGrp="1"/>
          </p:cNvSpPr>
          <p:nvPr>
            <p:ph type="body" sz="quarter" idx="17"/>
          </p:nvPr>
        </p:nvSpPr>
        <p:spPr>
          <a:xfrm>
            <a:off x="5622802" y="4599432"/>
            <a:ext cx="1668016" cy="1069848"/>
          </a:xfrm>
        </p:spPr>
        <p:txBody>
          <a:bodyPr/>
          <a:lstStyle/>
          <a:p>
            <a:r>
              <a:rPr lang="en-IN" sz="1400" dirty="0"/>
              <a:t>Browse and select your </a:t>
            </a:r>
            <a:r>
              <a:rPr lang="en-IN" sz="1400" b="1" dirty="0"/>
              <a:t>dataset file</a:t>
            </a:r>
            <a:r>
              <a:rPr lang="en-IN" sz="1400" dirty="0"/>
              <a:t> (e.g., Customers.csv, Orders.csv).</a:t>
            </a:r>
            <a:endParaRPr lang="en-US" sz="1400" dirty="0"/>
          </a:p>
          <a:p>
            <a:endParaRPr lang="en-US" dirty="0"/>
          </a:p>
        </p:txBody>
      </p:sp>
      <p:sp>
        <p:nvSpPr>
          <p:cNvPr id="72" name="Text Placeholder 71">
            <a:extLst>
              <a:ext uri="{FF2B5EF4-FFF2-40B4-BE49-F238E27FC236}">
                <a16:creationId xmlns:a16="http://schemas.microsoft.com/office/drawing/2014/main" id="{840CFADA-CAD6-2A04-5B15-5DB4DD6A84E0}"/>
              </a:ext>
            </a:extLst>
          </p:cNvPr>
          <p:cNvSpPr>
            <a:spLocks noGrp="1"/>
          </p:cNvSpPr>
          <p:nvPr>
            <p:ph type="body" sz="quarter" idx="19"/>
          </p:nvPr>
        </p:nvSpPr>
        <p:spPr/>
        <p:txBody>
          <a:bodyPr/>
          <a:lstStyle/>
          <a:p>
            <a:r>
              <a:rPr lang="en-IN" dirty="0"/>
              <a:t>Preview the data and click </a:t>
            </a:r>
            <a:r>
              <a:rPr lang="en-IN" b="1" dirty="0"/>
              <a:t>Load</a:t>
            </a:r>
            <a:r>
              <a:rPr lang="en-IN" dirty="0"/>
              <a:t>.</a:t>
            </a:r>
            <a:endParaRPr lang="en-US" dirty="0"/>
          </a:p>
          <a:p>
            <a:endParaRPr lang="en-US" dirty="0"/>
          </a:p>
        </p:txBody>
      </p:sp>
      <p:sp>
        <p:nvSpPr>
          <p:cNvPr id="73" name="Text Placeholder 72">
            <a:extLst>
              <a:ext uri="{FF2B5EF4-FFF2-40B4-BE49-F238E27FC236}">
                <a16:creationId xmlns:a16="http://schemas.microsoft.com/office/drawing/2014/main" id="{DB3347BB-2913-A230-8362-2B778394E7CE}"/>
              </a:ext>
            </a:extLst>
          </p:cNvPr>
          <p:cNvSpPr>
            <a:spLocks noGrp="1"/>
          </p:cNvSpPr>
          <p:nvPr>
            <p:ph type="body" sz="quarter" idx="21"/>
          </p:nvPr>
        </p:nvSpPr>
        <p:spPr/>
        <p:txBody>
          <a:bodyPr/>
          <a:lstStyle/>
          <a:p>
            <a:r>
              <a:rPr lang="en-IN" dirty="0"/>
              <a:t>Use </a:t>
            </a:r>
            <a:r>
              <a:rPr lang="en-IN" b="1" dirty="0"/>
              <a:t>Power Query</a:t>
            </a:r>
            <a:r>
              <a:rPr lang="en-IN" dirty="0"/>
              <a:t> to clean and transform data:</a:t>
            </a:r>
            <a:endParaRPr lang="en-US" dirty="0"/>
          </a:p>
          <a:p>
            <a:pPr lvl="0"/>
            <a:endParaRPr lang="en-US" dirty="0"/>
          </a:p>
        </p:txBody>
      </p:sp>
      <p:sp>
        <p:nvSpPr>
          <p:cNvPr id="138" name="Footer Placeholder 137">
            <a:extLst>
              <a:ext uri="{FF2B5EF4-FFF2-40B4-BE49-F238E27FC236}">
                <a16:creationId xmlns:a16="http://schemas.microsoft.com/office/drawing/2014/main" id="{8BC11123-4B26-8100-E85C-F218651524A5}"/>
              </a:ext>
            </a:extLst>
          </p:cNvPr>
          <p:cNvSpPr>
            <a:spLocks noGrp="1"/>
          </p:cNvSpPr>
          <p:nvPr>
            <p:ph type="ftr" sz="quarter" idx="10"/>
          </p:nvPr>
        </p:nvSpPr>
        <p:spPr/>
        <p:txBody>
          <a:bodyPr/>
          <a:lstStyle/>
          <a:p>
            <a:r>
              <a:rPr lang="en-US" dirty="0"/>
              <a:t>Northwind Traders</a:t>
            </a:r>
          </a:p>
        </p:txBody>
      </p:sp>
      <p:sp>
        <p:nvSpPr>
          <p:cNvPr id="8" name="Rectangle 7" descr="Network">
            <a:extLst>
              <a:ext uri="{FF2B5EF4-FFF2-40B4-BE49-F238E27FC236}">
                <a16:creationId xmlns:a16="http://schemas.microsoft.com/office/drawing/2014/main" id="{2E918EE2-7A64-F4F3-D4D3-B473C3DB940B}"/>
              </a:ext>
            </a:extLst>
          </p:cNvPr>
          <p:cNvSpPr/>
          <p:nvPr/>
        </p:nvSpPr>
        <p:spPr>
          <a:xfrm>
            <a:off x="1654898" y="2953512"/>
            <a:ext cx="621793" cy="621792"/>
          </a:xfrm>
          <a:prstGeom prst="rect">
            <a:avLst/>
          </a:prstGeom>
          <a: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3" name="Rectangle 12" descr="Browser Window">
            <a:extLst>
              <a:ext uri="{FF2B5EF4-FFF2-40B4-BE49-F238E27FC236}">
                <a16:creationId xmlns:a16="http://schemas.microsoft.com/office/drawing/2014/main" id="{A43F9176-72A0-249A-77B6-110FC5EE8285}"/>
              </a:ext>
            </a:extLst>
          </p:cNvPr>
          <p:cNvSpPr/>
          <p:nvPr/>
        </p:nvSpPr>
        <p:spPr>
          <a:xfrm>
            <a:off x="3852506" y="3069531"/>
            <a:ext cx="578419" cy="578419"/>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6" name="Rectangle 15" descr="Server">
            <a:extLst>
              <a:ext uri="{FF2B5EF4-FFF2-40B4-BE49-F238E27FC236}">
                <a16:creationId xmlns:a16="http://schemas.microsoft.com/office/drawing/2014/main" id="{C19744F4-EB92-6CA9-8881-C172BCD91CB9}"/>
              </a:ext>
            </a:extLst>
          </p:cNvPr>
          <p:cNvSpPr/>
          <p:nvPr/>
        </p:nvSpPr>
        <p:spPr>
          <a:xfrm>
            <a:off x="6014821" y="3038441"/>
            <a:ext cx="578419" cy="578419"/>
          </a:xfrm>
          <a:prstGeom prst="rect">
            <a:avLst/>
          </a:prstGeom>
          <a: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9" name="Rectangle 18" descr="Database">
            <a:extLst>
              <a:ext uri="{FF2B5EF4-FFF2-40B4-BE49-F238E27FC236}">
                <a16:creationId xmlns:a16="http://schemas.microsoft.com/office/drawing/2014/main" id="{51CD84EC-7922-8872-FBD9-9F49BB27DBA3}"/>
              </a:ext>
            </a:extLst>
          </p:cNvPr>
          <p:cNvSpPr/>
          <p:nvPr/>
        </p:nvSpPr>
        <p:spPr>
          <a:xfrm>
            <a:off x="10450418" y="3069530"/>
            <a:ext cx="578419" cy="578419"/>
          </a:xfrm>
          <a:prstGeom prst="rect">
            <a:avLst/>
          </a:prstGeom>
          <a: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22" name="Rectangle 21" descr="Disk">
            <a:extLst>
              <a:ext uri="{FF2B5EF4-FFF2-40B4-BE49-F238E27FC236}">
                <a16:creationId xmlns:a16="http://schemas.microsoft.com/office/drawing/2014/main" id="{11396BC8-D829-5327-0D4B-92D064DE8BE6}"/>
              </a:ext>
            </a:extLst>
          </p:cNvPr>
          <p:cNvSpPr/>
          <p:nvPr/>
        </p:nvSpPr>
        <p:spPr>
          <a:xfrm>
            <a:off x="8169055" y="3038440"/>
            <a:ext cx="578419" cy="578419"/>
          </a:xfrm>
          <a:prstGeom prst="rect">
            <a:avLst/>
          </a:prstGeom>
          <a: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a:blip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27" name="Text Placeholder 26">
            <a:extLst>
              <a:ext uri="{FF2B5EF4-FFF2-40B4-BE49-F238E27FC236}">
                <a16:creationId xmlns:a16="http://schemas.microsoft.com/office/drawing/2014/main" id="{146FD5F5-7064-7039-140C-32B2E41D9E9C}"/>
              </a:ext>
            </a:extLst>
          </p:cNvPr>
          <p:cNvSpPr>
            <a:spLocks noGrp="1"/>
          </p:cNvSpPr>
          <p:nvPr>
            <p:ph type="body" sz="quarter" idx="13"/>
          </p:nvPr>
        </p:nvSpPr>
        <p:spPr/>
        <p:txBody>
          <a:bodyPr/>
          <a:lstStyle/>
          <a:p>
            <a:r>
              <a:rPr lang="en-IN" sz="1400" b="1" dirty="0"/>
              <a:t>Connecting via CSV / Excel</a:t>
            </a:r>
            <a:endParaRPr lang="en-US" sz="1400" dirty="0"/>
          </a:p>
          <a:p>
            <a:endParaRPr lang="en-IN" dirty="0"/>
          </a:p>
        </p:txBody>
      </p:sp>
    </p:spTree>
    <p:extLst>
      <p:ext uri="{BB962C8B-B14F-4D97-AF65-F5344CB8AC3E}">
        <p14:creationId xmlns:p14="http://schemas.microsoft.com/office/powerpoint/2010/main" val="35101309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0DEE9-2DBD-C997-C208-027230B5A3EA}"/>
              </a:ext>
            </a:extLst>
          </p:cNvPr>
          <p:cNvSpPr>
            <a:spLocks noGrp="1"/>
          </p:cNvSpPr>
          <p:nvPr>
            <p:ph type="title"/>
          </p:nvPr>
        </p:nvSpPr>
        <p:spPr>
          <a:xfrm>
            <a:off x="1098804" y="109728"/>
            <a:ext cx="9994392" cy="612648"/>
          </a:xfrm>
        </p:spPr>
        <p:txBody>
          <a:bodyPr/>
          <a:lstStyle/>
          <a:p>
            <a:r>
              <a:rPr lang="en-IN" dirty="0"/>
              <a:t>Data Model Overview</a:t>
            </a:r>
            <a:endParaRPr lang="en-US" sz="4000" b="1" spc="600" dirty="0">
              <a:ln w="28575">
                <a:noFill/>
                <a:prstDash val="solid"/>
              </a:ln>
              <a:solidFill>
                <a:schemeClr val="bg1"/>
              </a:solidFill>
              <a:latin typeface="Tw Cen MT" panose="020B0602020104020603" pitchFamily="34" charset="77"/>
            </a:endParaRPr>
          </a:p>
        </p:txBody>
      </p:sp>
      <p:sp>
        <p:nvSpPr>
          <p:cNvPr id="5" name="Slide Number Placeholder 4">
            <a:extLst>
              <a:ext uri="{FF2B5EF4-FFF2-40B4-BE49-F238E27FC236}">
                <a16:creationId xmlns:a16="http://schemas.microsoft.com/office/drawing/2014/main" id="{F79CF1F9-4847-1440-0352-6D1284A48D05}"/>
              </a:ext>
            </a:extLst>
          </p:cNvPr>
          <p:cNvSpPr>
            <a:spLocks noGrp="1"/>
          </p:cNvSpPr>
          <p:nvPr>
            <p:ph type="sldNum" sz="quarter" idx="11"/>
          </p:nvPr>
        </p:nvSpPr>
        <p:spPr/>
        <p:txBody>
          <a:bodyPr/>
          <a:lstStyle/>
          <a:p>
            <a:fld id="{294A09A9-5501-47C1-A89A-A340965A2BE2}" type="slidenum">
              <a:rPr lang="en-US" smtClean="0"/>
              <a:pPr/>
              <a:t>8</a:t>
            </a:fld>
            <a:endParaRPr lang="en-US" dirty="0"/>
          </a:p>
        </p:txBody>
      </p:sp>
      <p:sp>
        <p:nvSpPr>
          <p:cNvPr id="3" name="Footer Placeholder 2">
            <a:extLst>
              <a:ext uri="{FF2B5EF4-FFF2-40B4-BE49-F238E27FC236}">
                <a16:creationId xmlns:a16="http://schemas.microsoft.com/office/drawing/2014/main" id="{D534491D-AF3A-C879-49E6-F11A17AC3008}"/>
              </a:ext>
            </a:extLst>
          </p:cNvPr>
          <p:cNvSpPr>
            <a:spLocks noGrp="1"/>
          </p:cNvSpPr>
          <p:nvPr>
            <p:ph type="ftr" sz="quarter" idx="10"/>
          </p:nvPr>
        </p:nvSpPr>
        <p:spPr/>
        <p:txBody>
          <a:bodyPr/>
          <a:lstStyle/>
          <a:p>
            <a:r>
              <a:rPr lang="en-US" dirty="0"/>
              <a:t>Northwind Traders</a:t>
            </a:r>
          </a:p>
        </p:txBody>
      </p:sp>
      <p:pic>
        <p:nvPicPr>
          <p:cNvPr id="9" name="Content Placeholder 8">
            <a:extLst>
              <a:ext uri="{FF2B5EF4-FFF2-40B4-BE49-F238E27FC236}">
                <a16:creationId xmlns:a16="http://schemas.microsoft.com/office/drawing/2014/main" id="{B27756ED-52AF-E190-480F-F9CD894E7C9A}"/>
              </a:ext>
            </a:extLst>
          </p:cNvPr>
          <p:cNvPicPr>
            <a:picLocks noGrp="1" noChangeAspect="1"/>
          </p:cNvPicPr>
          <p:nvPr>
            <p:ph idx="1"/>
          </p:nvPr>
        </p:nvPicPr>
        <p:blipFill>
          <a:blip r:embed="rId2"/>
          <a:stretch>
            <a:fillRect/>
          </a:stretch>
        </p:blipFill>
        <p:spPr>
          <a:xfrm>
            <a:off x="2059686" y="1935766"/>
            <a:ext cx="8360360" cy="4812506"/>
          </a:xfrm>
        </p:spPr>
      </p:pic>
      <p:sp>
        <p:nvSpPr>
          <p:cNvPr id="10" name="TextBox 9">
            <a:extLst>
              <a:ext uri="{FF2B5EF4-FFF2-40B4-BE49-F238E27FC236}">
                <a16:creationId xmlns:a16="http://schemas.microsoft.com/office/drawing/2014/main" id="{72C2710A-B388-295F-2176-A4EB22589A2C}"/>
              </a:ext>
            </a:extLst>
          </p:cNvPr>
          <p:cNvSpPr txBox="1"/>
          <p:nvPr/>
        </p:nvSpPr>
        <p:spPr>
          <a:xfrm>
            <a:off x="1192379" y="651053"/>
            <a:ext cx="10094975" cy="1754326"/>
          </a:xfrm>
          <a:prstGeom prst="rect">
            <a:avLst/>
          </a:prstGeom>
          <a:noFill/>
        </p:spPr>
        <p:txBody>
          <a:bodyPr wrap="square" rtlCol="0">
            <a:spAutoFit/>
          </a:bodyPr>
          <a:lstStyle/>
          <a:p>
            <a:r>
              <a:rPr lang="en-US" dirty="0">
                <a:solidFill>
                  <a:schemeClr val="bg1"/>
                </a:solidFill>
              </a:rPr>
              <a:t>The </a:t>
            </a:r>
            <a:r>
              <a:rPr lang="en-US" b="1" dirty="0">
                <a:solidFill>
                  <a:schemeClr val="bg1"/>
                </a:solidFill>
              </a:rPr>
              <a:t>data model</a:t>
            </a:r>
            <a:r>
              <a:rPr lang="en-US" dirty="0">
                <a:solidFill>
                  <a:schemeClr val="bg1"/>
                </a:solidFill>
              </a:rPr>
              <a:t> in Power BI integrates multiple tables from the Northwind dataset to enable efficient analysis and cross-filtering between entities.</a:t>
            </a:r>
          </a:p>
          <a:p>
            <a:r>
              <a:rPr lang="en-US" dirty="0">
                <a:solidFill>
                  <a:schemeClr val="bg1"/>
                </a:solidFill>
              </a:rPr>
              <a:t>The model follows a </a:t>
            </a:r>
            <a:r>
              <a:rPr lang="en-US" b="1" dirty="0">
                <a:solidFill>
                  <a:schemeClr val="bg1"/>
                </a:solidFill>
              </a:rPr>
              <a:t>Star Schema</a:t>
            </a:r>
            <a:r>
              <a:rPr lang="en-US" dirty="0">
                <a:solidFill>
                  <a:schemeClr val="bg1"/>
                </a:solidFill>
              </a:rPr>
              <a:t> design — where the </a:t>
            </a:r>
            <a:r>
              <a:rPr lang="en-US" b="1" dirty="0">
                <a:solidFill>
                  <a:schemeClr val="bg1"/>
                </a:solidFill>
              </a:rPr>
              <a:t>Orders</a:t>
            </a:r>
            <a:r>
              <a:rPr lang="en-US" dirty="0">
                <a:solidFill>
                  <a:schemeClr val="bg1"/>
                </a:solidFill>
              </a:rPr>
              <a:t> and </a:t>
            </a:r>
            <a:r>
              <a:rPr lang="en-US" b="1" dirty="0">
                <a:solidFill>
                  <a:schemeClr val="bg1"/>
                </a:solidFill>
              </a:rPr>
              <a:t>Order Details</a:t>
            </a:r>
            <a:r>
              <a:rPr lang="en-US" dirty="0">
                <a:solidFill>
                  <a:schemeClr val="bg1"/>
                </a:solidFill>
              </a:rPr>
              <a:t> tables serve as the </a:t>
            </a:r>
            <a:r>
              <a:rPr lang="en-US" i="1" dirty="0">
                <a:solidFill>
                  <a:schemeClr val="bg1"/>
                </a:solidFill>
              </a:rPr>
              <a:t>fact tables</a:t>
            </a:r>
            <a:r>
              <a:rPr lang="en-US" dirty="0">
                <a:solidFill>
                  <a:schemeClr val="bg1"/>
                </a:solidFill>
              </a:rPr>
              <a:t>, while other tables (Customers, Employees, Products, Categories, and Shippers) act as </a:t>
            </a:r>
            <a:r>
              <a:rPr lang="en-US" i="1" dirty="0">
                <a:solidFill>
                  <a:schemeClr val="bg1"/>
                </a:solidFill>
              </a:rPr>
              <a:t>dimension tables</a:t>
            </a:r>
            <a:endParaRPr lang="en-US" dirty="0">
              <a:solidFill>
                <a:schemeClr val="bg1"/>
              </a:solidFill>
            </a:endParaRPr>
          </a:p>
          <a:p>
            <a:endParaRPr lang="en-IN" dirty="0"/>
          </a:p>
        </p:txBody>
      </p:sp>
    </p:spTree>
    <p:extLst>
      <p:ext uri="{BB962C8B-B14F-4D97-AF65-F5344CB8AC3E}">
        <p14:creationId xmlns:p14="http://schemas.microsoft.com/office/powerpoint/2010/main" val="12087244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412FE39-DE01-4A13-2A56-9A004F8FAA94}"/>
              </a:ext>
            </a:extLst>
          </p:cNvPr>
          <p:cNvSpPr>
            <a:spLocks noGrp="1"/>
          </p:cNvSpPr>
          <p:nvPr>
            <p:ph idx="1"/>
          </p:nvPr>
        </p:nvSpPr>
        <p:spPr>
          <a:xfrm>
            <a:off x="611733" y="1185063"/>
            <a:ext cx="11484864" cy="5208422"/>
          </a:xfrm>
        </p:spPr>
        <p:txBody>
          <a:bodyPr/>
          <a:lstStyle/>
          <a:p>
            <a:pPr>
              <a:lnSpc>
                <a:spcPct val="100000"/>
              </a:lnSpc>
            </a:pPr>
            <a:r>
              <a:rPr lang="en-US" sz="1800" dirty="0"/>
              <a:t>The </a:t>
            </a:r>
            <a:r>
              <a:rPr lang="en-US" sz="1800" b="1" dirty="0"/>
              <a:t>Sales Performance Dashboard</a:t>
            </a:r>
            <a:r>
              <a:rPr lang="en-US" sz="1800" dirty="0"/>
              <a:t> was designed with a clear, modern, and user-friendly layout to ensure effective data storytelling and quick insight extraction.</a:t>
            </a:r>
          </a:p>
          <a:p>
            <a:pPr>
              <a:lnSpc>
                <a:spcPct val="100000"/>
              </a:lnSpc>
            </a:pPr>
            <a:r>
              <a:rPr lang="en-US" sz="1800" b="1" dirty="0"/>
              <a:t>Design Approach:</a:t>
            </a:r>
            <a:br>
              <a:rPr lang="en-US" sz="1800" dirty="0"/>
            </a:br>
            <a:r>
              <a:rPr lang="en-US" sz="1800" dirty="0"/>
              <a:t>• Adopted a </a:t>
            </a:r>
            <a:r>
              <a:rPr lang="en-US" sz="1800" b="1" dirty="0"/>
              <a:t>dark gradient theme</a:t>
            </a:r>
            <a:r>
              <a:rPr lang="en-US" sz="1800" dirty="0"/>
              <a:t> (Navy → Teal) for better visual focus and contrast.</a:t>
            </a:r>
            <a:br>
              <a:rPr lang="en-US" sz="1800" dirty="0"/>
            </a:br>
            <a:r>
              <a:rPr lang="en-US" sz="1800" dirty="0"/>
              <a:t>• Used </a:t>
            </a:r>
            <a:r>
              <a:rPr lang="en-US" sz="1800" b="1" dirty="0"/>
              <a:t>Power BI Cards</a:t>
            </a:r>
            <a:r>
              <a:rPr lang="en-US" sz="1800" dirty="0"/>
              <a:t> for KPIs such as Total Sales, Orders, and Average Order Value.</a:t>
            </a:r>
            <a:br>
              <a:rPr lang="en-US" sz="1800" dirty="0"/>
            </a:br>
            <a:r>
              <a:rPr lang="en-US" sz="1800" dirty="0"/>
              <a:t>• Included </a:t>
            </a:r>
            <a:r>
              <a:rPr lang="en-US" sz="1800" b="1" dirty="0"/>
              <a:t>bar, line, and map visuals</a:t>
            </a:r>
            <a:r>
              <a:rPr lang="en-US" sz="1800" dirty="0"/>
              <a:t> to show product trends, sales over time, and regional distribution.</a:t>
            </a:r>
            <a:br>
              <a:rPr lang="en-US" sz="1800" dirty="0"/>
            </a:br>
            <a:r>
              <a:rPr lang="en-US" sz="1800" dirty="0"/>
              <a:t>• Applied </a:t>
            </a:r>
            <a:r>
              <a:rPr lang="en-US" sz="1800" b="1" dirty="0"/>
              <a:t>filters and slicers (funnel icons)</a:t>
            </a:r>
            <a:r>
              <a:rPr lang="en-US" sz="1800" dirty="0"/>
              <a:t> for interactivity by year, category, region, and employee.</a:t>
            </a:r>
            <a:br>
              <a:rPr lang="en-US" sz="1800" dirty="0"/>
            </a:br>
            <a:r>
              <a:rPr lang="en-US" sz="1800" dirty="0"/>
              <a:t>• Incorporated </a:t>
            </a:r>
            <a:r>
              <a:rPr lang="en-US" sz="1800" b="1" dirty="0"/>
              <a:t>page navigator buttons</a:t>
            </a:r>
            <a:r>
              <a:rPr lang="en-US" sz="1800" dirty="0"/>
              <a:t> for seamless page transitions.</a:t>
            </a:r>
          </a:p>
          <a:p>
            <a:pPr>
              <a:lnSpc>
                <a:spcPct val="100000"/>
              </a:lnSpc>
            </a:pPr>
            <a:r>
              <a:rPr lang="en-US" sz="1800" b="1" dirty="0"/>
              <a:t>Dashboard Pages Overview:</a:t>
            </a:r>
            <a:br>
              <a:rPr lang="en-US" sz="1800" dirty="0"/>
            </a:br>
            <a:r>
              <a:rPr lang="en-US" sz="1800" dirty="0"/>
              <a:t>1️⃣ Overview Page – Summary of key metrics and trends.</a:t>
            </a:r>
            <a:br>
              <a:rPr lang="en-US" sz="1800" dirty="0"/>
            </a:br>
            <a:r>
              <a:rPr lang="en-US" sz="1800" dirty="0"/>
              <a:t>2️⃣ Product Performance – Top products, categories, and discounts.</a:t>
            </a:r>
            <a:br>
              <a:rPr lang="en-US" sz="1800" dirty="0"/>
            </a:br>
            <a:r>
              <a:rPr lang="en-US" sz="1800" dirty="0"/>
              <a:t>3️⃣ Customer Analysis – Customer segments, loyalty, and sales by region.</a:t>
            </a:r>
            <a:br>
              <a:rPr lang="en-US" sz="1800" dirty="0"/>
            </a:br>
            <a:r>
              <a:rPr lang="en-US" sz="1800" dirty="0"/>
              <a:t>4️⃣ Employee Performance – Employee sales comparison and top performer.</a:t>
            </a:r>
            <a:br>
              <a:rPr lang="en-US" sz="1800" dirty="0"/>
            </a:br>
            <a:r>
              <a:rPr lang="en-US" sz="1800" dirty="0"/>
              <a:t>5️⃣ </a:t>
            </a:r>
            <a:r>
              <a:rPr lang="en-US" sz="1800" b="1" dirty="0"/>
              <a:t>Order Analysis </a:t>
            </a:r>
            <a:r>
              <a:rPr lang="en-US" sz="1800" dirty="0"/>
              <a:t>– Order value distribution, freight, and shipping duration.</a:t>
            </a:r>
          </a:p>
          <a:p>
            <a:pPr>
              <a:lnSpc>
                <a:spcPct val="100000"/>
              </a:lnSpc>
            </a:pPr>
            <a:r>
              <a:rPr lang="en-US" sz="1800" b="1" dirty="0"/>
              <a:t>Goal:</a:t>
            </a:r>
            <a:r>
              <a:rPr lang="en-US" sz="1800" dirty="0"/>
              <a:t> To create an </a:t>
            </a:r>
            <a:r>
              <a:rPr lang="en-US" sz="1800" b="1" dirty="0"/>
              <a:t>interactive and visually appealing</a:t>
            </a:r>
            <a:r>
              <a:rPr lang="en-US" sz="1800" dirty="0"/>
              <a:t> dashboard that helps decision-makers easily monitor performance.</a:t>
            </a:r>
          </a:p>
        </p:txBody>
      </p:sp>
      <p:sp>
        <p:nvSpPr>
          <p:cNvPr id="2" name="Slide Number Placeholder 1">
            <a:extLst>
              <a:ext uri="{FF2B5EF4-FFF2-40B4-BE49-F238E27FC236}">
                <a16:creationId xmlns:a16="http://schemas.microsoft.com/office/drawing/2014/main" id="{BB87AB6F-9287-42ED-9349-26F04DA1054D}"/>
              </a:ext>
            </a:extLst>
          </p:cNvPr>
          <p:cNvSpPr>
            <a:spLocks noGrp="1"/>
          </p:cNvSpPr>
          <p:nvPr>
            <p:ph type="sldNum" sz="quarter" idx="11"/>
          </p:nvPr>
        </p:nvSpPr>
        <p:spPr/>
        <p:txBody>
          <a:bodyPr/>
          <a:lstStyle/>
          <a:p>
            <a:fld id="{294A09A9-5501-47C1-A89A-A340965A2BE2}" type="slidenum">
              <a:rPr lang="en-US" smtClean="0"/>
              <a:pPr/>
              <a:t>9</a:t>
            </a:fld>
            <a:endParaRPr lang="en-US" dirty="0"/>
          </a:p>
        </p:txBody>
      </p:sp>
      <p:sp>
        <p:nvSpPr>
          <p:cNvPr id="3" name="Footer Placeholder 2">
            <a:extLst>
              <a:ext uri="{FF2B5EF4-FFF2-40B4-BE49-F238E27FC236}">
                <a16:creationId xmlns:a16="http://schemas.microsoft.com/office/drawing/2014/main" id="{7D32C1A4-FC09-96DC-C29D-B4131FDFBCC9}"/>
              </a:ext>
            </a:extLst>
          </p:cNvPr>
          <p:cNvSpPr>
            <a:spLocks noGrp="1"/>
          </p:cNvSpPr>
          <p:nvPr>
            <p:ph type="ftr" sz="quarter" idx="10"/>
          </p:nvPr>
        </p:nvSpPr>
        <p:spPr/>
        <p:txBody>
          <a:bodyPr/>
          <a:lstStyle/>
          <a:p>
            <a:r>
              <a:rPr lang="en-US" dirty="0"/>
              <a:t>Northwind Traders</a:t>
            </a:r>
          </a:p>
        </p:txBody>
      </p:sp>
      <p:sp>
        <p:nvSpPr>
          <p:cNvPr id="4" name="Title 3">
            <a:extLst>
              <a:ext uri="{FF2B5EF4-FFF2-40B4-BE49-F238E27FC236}">
                <a16:creationId xmlns:a16="http://schemas.microsoft.com/office/drawing/2014/main" id="{855756B8-C5A6-63DC-D8A9-5D1BC97861C1}"/>
              </a:ext>
            </a:extLst>
          </p:cNvPr>
          <p:cNvSpPr>
            <a:spLocks noGrp="1"/>
          </p:cNvSpPr>
          <p:nvPr>
            <p:ph type="title"/>
          </p:nvPr>
        </p:nvSpPr>
        <p:spPr>
          <a:xfrm>
            <a:off x="914399" y="212140"/>
            <a:ext cx="10538461" cy="709575"/>
          </a:xfrm>
        </p:spPr>
        <p:txBody>
          <a:bodyPr/>
          <a:lstStyle/>
          <a:p>
            <a:r>
              <a:rPr lang="en-IN" dirty="0"/>
              <a:t>Dashboard Design and Layout</a:t>
            </a:r>
          </a:p>
        </p:txBody>
      </p:sp>
    </p:spTree>
    <p:extLst>
      <p:ext uri="{BB962C8B-B14F-4D97-AF65-F5344CB8AC3E}">
        <p14:creationId xmlns:p14="http://schemas.microsoft.com/office/powerpoint/2010/main" val="42455450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FAF8A-0EA4-71E6-1E82-60EFCEC0A68A}"/>
              </a:ext>
            </a:extLst>
          </p:cNvPr>
          <p:cNvSpPr>
            <a:spLocks noGrp="1"/>
          </p:cNvSpPr>
          <p:nvPr>
            <p:ph type="title"/>
          </p:nvPr>
        </p:nvSpPr>
        <p:spPr>
          <a:xfrm>
            <a:off x="981456" y="187452"/>
            <a:ext cx="9841442" cy="711958"/>
          </a:xfrm>
        </p:spPr>
        <p:txBody>
          <a:bodyPr/>
          <a:lstStyle/>
          <a:p>
            <a:r>
              <a:rPr lang="en-IN" dirty="0"/>
              <a:t>DAX Measures and KPIs</a:t>
            </a:r>
          </a:p>
        </p:txBody>
      </p:sp>
      <p:sp>
        <p:nvSpPr>
          <p:cNvPr id="4" name="Slide Number Placeholder 3">
            <a:extLst>
              <a:ext uri="{FF2B5EF4-FFF2-40B4-BE49-F238E27FC236}">
                <a16:creationId xmlns:a16="http://schemas.microsoft.com/office/drawing/2014/main" id="{7FD20481-4936-49D3-C20E-2F87A183DE23}"/>
              </a:ext>
            </a:extLst>
          </p:cNvPr>
          <p:cNvSpPr>
            <a:spLocks noGrp="1"/>
          </p:cNvSpPr>
          <p:nvPr>
            <p:ph type="sldNum" sz="quarter" idx="11"/>
          </p:nvPr>
        </p:nvSpPr>
        <p:spPr/>
        <p:txBody>
          <a:bodyPr/>
          <a:lstStyle/>
          <a:p>
            <a:fld id="{294A09A9-5501-47C1-A89A-A340965A2BE2}" type="slidenum">
              <a:rPr lang="en-US" smtClean="0"/>
              <a:pPr/>
              <a:t>10</a:t>
            </a:fld>
            <a:endParaRPr lang="en-US" dirty="0"/>
          </a:p>
        </p:txBody>
      </p:sp>
      <p:sp>
        <p:nvSpPr>
          <p:cNvPr id="5" name="Footer Placeholder 4">
            <a:extLst>
              <a:ext uri="{FF2B5EF4-FFF2-40B4-BE49-F238E27FC236}">
                <a16:creationId xmlns:a16="http://schemas.microsoft.com/office/drawing/2014/main" id="{003FA3D6-C2D5-1B90-4550-D630C3AE76E5}"/>
              </a:ext>
            </a:extLst>
          </p:cNvPr>
          <p:cNvSpPr>
            <a:spLocks noGrp="1"/>
          </p:cNvSpPr>
          <p:nvPr>
            <p:ph type="ftr" sz="quarter" idx="10"/>
          </p:nvPr>
        </p:nvSpPr>
        <p:spPr/>
        <p:txBody>
          <a:bodyPr/>
          <a:lstStyle/>
          <a:p>
            <a:r>
              <a:rPr lang="en-US" dirty="0"/>
              <a:t>Northwind Traders</a:t>
            </a:r>
          </a:p>
        </p:txBody>
      </p:sp>
      <p:sp>
        <p:nvSpPr>
          <p:cNvPr id="6" name="Rectangle 1">
            <a:extLst>
              <a:ext uri="{FF2B5EF4-FFF2-40B4-BE49-F238E27FC236}">
                <a16:creationId xmlns:a16="http://schemas.microsoft.com/office/drawing/2014/main" id="{2150E4A0-6059-2ADB-18E3-F27C0E1162C6}"/>
              </a:ext>
            </a:extLst>
          </p:cNvPr>
          <p:cNvSpPr>
            <a:spLocks noGrp="1" noChangeArrowheads="1"/>
          </p:cNvSpPr>
          <p:nvPr>
            <p:ph idx="1"/>
          </p:nvPr>
        </p:nvSpPr>
        <p:spPr bwMode="auto">
          <a:xfrm>
            <a:off x="775241" y="942898"/>
            <a:ext cx="10881360" cy="5247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effectLst/>
                <a:latin typeface="Arial" panose="020B0604020202020204" pitchFamily="34" charset="0"/>
              </a:rPr>
              <a:t>To enhance data analysis and interactivity, several </a:t>
            </a:r>
            <a:r>
              <a:rPr kumimoji="0" lang="en-US" altLang="en-US" sz="1800" b="1" i="0" u="none" strike="noStrike" cap="none" normalizeH="0" baseline="0" dirty="0">
                <a:ln>
                  <a:noFill/>
                </a:ln>
                <a:effectLst/>
                <a:latin typeface="Arial" panose="020B0604020202020204" pitchFamily="34" charset="0"/>
              </a:rPr>
              <a:t>DAX (Data Analysis Expressions)</a:t>
            </a:r>
            <a:r>
              <a:rPr kumimoji="0" lang="en-US" altLang="en-US" sz="1800" b="0" i="0" u="none" strike="noStrike" cap="none" normalizeH="0" baseline="0" dirty="0">
                <a:ln>
                  <a:noFill/>
                </a:ln>
                <a:effectLst/>
                <a:latin typeface="Arial" panose="020B0604020202020204" pitchFamily="34" charset="0"/>
              </a:rPr>
              <a:t> measures were created in Power BI.</a:t>
            </a:r>
            <a:br>
              <a:rPr kumimoji="0" lang="en-US" altLang="en-US" sz="1800" b="0" i="0" u="none" strike="noStrike" cap="none" normalizeH="0" baseline="0" dirty="0">
                <a:ln>
                  <a:noFill/>
                </a:ln>
                <a:effectLst/>
                <a:latin typeface="Arial" panose="020B0604020202020204" pitchFamily="34" charset="0"/>
              </a:rPr>
            </a:br>
            <a:r>
              <a:rPr kumimoji="0" lang="en-US" altLang="en-US" sz="1800" b="0" i="0" u="none" strike="noStrike" cap="none" normalizeH="0" baseline="0" dirty="0">
                <a:ln>
                  <a:noFill/>
                </a:ln>
                <a:effectLst/>
                <a:latin typeface="Arial" panose="020B0604020202020204" pitchFamily="34" charset="0"/>
              </a:rPr>
              <a:t>These measures help calculate </a:t>
            </a:r>
            <a:r>
              <a:rPr kumimoji="0" lang="en-US" altLang="en-US" sz="1800" b="1" i="0" u="none" strike="noStrike" cap="none" normalizeH="0" baseline="0" dirty="0">
                <a:ln>
                  <a:noFill/>
                </a:ln>
                <a:effectLst/>
                <a:latin typeface="Arial" panose="020B0604020202020204" pitchFamily="34" charset="0"/>
              </a:rPr>
              <a:t>key business performance metrics (KPIs)</a:t>
            </a:r>
            <a:r>
              <a:rPr kumimoji="0" lang="en-US" altLang="en-US" sz="1800" b="0" i="0" u="none" strike="noStrike" cap="none" normalizeH="0" baseline="0" dirty="0">
                <a:ln>
                  <a:noFill/>
                </a:ln>
                <a:effectLst/>
                <a:latin typeface="Arial" panose="020B0604020202020204" pitchFamily="34" charset="0"/>
              </a:rPr>
              <a:t> and provide dynamic insights for visualization.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effectLst/>
              <a:latin typeface="Arial" panose="020B0604020202020204" pitchFamily="34" charset="0"/>
            </a:endParaRPr>
          </a:p>
          <a:p>
            <a:pPr marL="285750" indent="-285750" eaLnBrk="0" fontAlgn="base" hangingPunct="0">
              <a:lnSpc>
                <a:spcPct val="100000"/>
              </a:lnSpc>
              <a:spcBef>
                <a:spcPct val="0"/>
              </a:spcBef>
              <a:spcAft>
                <a:spcPct val="0"/>
              </a:spcAft>
              <a:buClrTx/>
            </a:pPr>
            <a:r>
              <a:rPr kumimoji="0" lang="en-US" altLang="en-US" sz="1800" b="1" i="0" u="none" strike="noStrike" cap="none" normalizeH="0" baseline="0" dirty="0">
                <a:ln>
                  <a:noFill/>
                </a:ln>
                <a:effectLst/>
                <a:latin typeface="Arial" panose="020B0604020202020204" pitchFamily="34" charset="0"/>
              </a:rPr>
              <a:t>Key DAX Measures Used:</a:t>
            </a:r>
            <a:br>
              <a:rPr kumimoji="0" lang="en-US" altLang="en-US" sz="1800" b="0" i="0" u="none" strike="noStrike" cap="none" normalizeH="0" baseline="0" dirty="0">
                <a:ln>
                  <a:noFill/>
                </a:ln>
                <a:effectLst/>
                <a:latin typeface="Arial" panose="020B0604020202020204" pitchFamily="34" charset="0"/>
              </a:rPr>
            </a:br>
            <a:r>
              <a:rPr kumimoji="0" lang="en-US" altLang="en-US" sz="1800" b="1" i="0" u="none" strike="noStrike" cap="none" normalizeH="0" baseline="0" dirty="0">
                <a:ln>
                  <a:noFill/>
                </a:ln>
                <a:effectLst/>
                <a:latin typeface="Arial" panose="020B0604020202020204" pitchFamily="34" charset="0"/>
              </a:rPr>
              <a:t>Total Sales</a:t>
            </a:r>
            <a:r>
              <a:rPr kumimoji="0" lang="en-US" altLang="en-US" sz="1800" b="0" i="0" u="none" strike="noStrike" cap="none" normalizeH="0" baseline="0" dirty="0">
                <a:ln>
                  <a:noFill/>
                </a:ln>
                <a:effectLst/>
                <a:latin typeface="Arial" panose="020B0604020202020204" pitchFamily="34" charset="0"/>
              </a:rPr>
              <a:t> = </a:t>
            </a:r>
            <a:r>
              <a:rPr kumimoji="0" lang="en-US" altLang="en-US" sz="1100" b="0" i="0" u="none" strike="noStrike" cap="none" normalizeH="0" baseline="0" dirty="0">
                <a:ln>
                  <a:noFill/>
                </a:ln>
                <a:effectLst/>
                <a:latin typeface="Arial Unicode MS"/>
              </a:rPr>
              <a:t>SUMX('Order Details', [</a:t>
            </a:r>
            <a:r>
              <a:rPr kumimoji="0" lang="en-US" altLang="en-US" sz="1100" b="0" i="0" u="none" strike="noStrike" cap="none" normalizeH="0" baseline="0" dirty="0" err="1">
                <a:ln>
                  <a:noFill/>
                </a:ln>
                <a:effectLst/>
                <a:latin typeface="Arial Unicode MS"/>
              </a:rPr>
              <a:t>UnitPrice</a:t>
            </a:r>
            <a:r>
              <a:rPr kumimoji="0" lang="en-US" altLang="en-US" sz="1100" b="0" i="0" u="none" strike="noStrike" cap="none" normalizeH="0" baseline="0" dirty="0">
                <a:ln>
                  <a:noFill/>
                </a:ln>
                <a:effectLst/>
                <a:latin typeface="Arial Unicode MS"/>
              </a:rPr>
              <a:t>] * [Quantity] * (1 - [Discount]))</a:t>
            </a:r>
            <a:br>
              <a:rPr kumimoji="0" lang="en-US" altLang="en-US" sz="600" b="0" i="0" u="none" strike="noStrike" cap="none" normalizeH="0" baseline="0" dirty="0">
                <a:ln>
                  <a:noFill/>
                </a:ln>
                <a:effectLst/>
              </a:rPr>
            </a:br>
            <a:r>
              <a:rPr kumimoji="0" lang="en-US" altLang="en-US" sz="1800" b="1" i="0" u="none" strike="noStrike" cap="none" normalizeH="0" baseline="0" dirty="0">
                <a:ln>
                  <a:noFill/>
                </a:ln>
                <a:effectLst/>
                <a:latin typeface="Arial" panose="020B0604020202020204" pitchFamily="34" charset="0"/>
              </a:rPr>
              <a:t>Total Orders</a:t>
            </a:r>
            <a:r>
              <a:rPr kumimoji="0" lang="en-US" altLang="en-US" sz="1800" b="0" i="0" u="none" strike="noStrike" cap="none" normalizeH="0" baseline="0" dirty="0">
                <a:ln>
                  <a:noFill/>
                </a:ln>
                <a:effectLst/>
                <a:latin typeface="Arial" panose="020B0604020202020204" pitchFamily="34" charset="0"/>
              </a:rPr>
              <a:t> = </a:t>
            </a:r>
            <a:r>
              <a:rPr kumimoji="0" lang="en-US" altLang="en-US" sz="1100" b="0" i="0" u="none" strike="noStrike" cap="none" normalizeH="0" baseline="0" dirty="0">
                <a:ln>
                  <a:noFill/>
                </a:ln>
                <a:effectLst/>
                <a:latin typeface="Arial Unicode MS"/>
              </a:rPr>
              <a:t>COUNTROWS(Orders)</a:t>
            </a:r>
            <a:br>
              <a:rPr kumimoji="0" lang="en-US" altLang="en-US" sz="600" b="0" i="0" u="none" strike="noStrike" cap="none" normalizeH="0" baseline="0" dirty="0">
                <a:ln>
                  <a:noFill/>
                </a:ln>
                <a:effectLst/>
              </a:rPr>
            </a:br>
            <a:r>
              <a:rPr kumimoji="0" lang="en-US" altLang="en-US" sz="1800" b="1" i="0" u="none" strike="noStrike" cap="none" normalizeH="0" baseline="0" dirty="0">
                <a:ln>
                  <a:noFill/>
                </a:ln>
                <a:effectLst/>
                <a:latin typeface="Arial" panose="020B0604020202020204" pitchFamily="34" charset="0"/>
              </a:rPr>
              <a:t>Average Order Value (AOV)</a:t>
            </a:r>
            <a:r>
              <a:rPr kumimoji="0" lang="en-US" altLang="en-US" sz="1800" b="0" i="0" u="none" strike="noStrike" cap="none" normalizeH="0" baseline="0" dirty="0">
                <a:ln>
                  <a:noFill/>
                </a:ln>
                <a:effectLst/>
                <a:latin typeface="Arial" panose="020B0604020202020204" pitchFamily="34" charset="0"/>
              </a:rPr>
              <a:t> = </a:t>
            </a:r>
            <a:r>
              <a:rPr kumimoji="0" lang="en-US" altLang="en-US" sz="1100" b="0" i="0" u="none" strike="noStrike" cap="none" normalizeH="0" baseline="0" dirty="0">
                <a:ln>
                  <a:noFill/>
                </a:ln>
                <a:effectLst/>
                <a:latin typeface="Arial Unicode MS"/>
              </a:rPr>
              <a:t>[Total Sales] / DISTINCTCOUNT(Orders[</a:t>
            </a:r>
            <a:r>
              <a:rPr kumimoji="0" lang="en-US" altLang="en-US" sz="1100" b="0" i="0" u="none" strike="noStrike" cap="none" normalizeH="0" baseline="0" dirty="0" err="1">
                <a:ln>
                  <a:noFill/>
                </a:ln>
                <a:effectLst/>
                <a:latin typeface="Arial Unicode MS"/>
              </a:rPr>
              <a:t>OrderID</a:t>
            </a:r>
            <a:r>
              <a:rPr kumimoji="0" lang="en-US" altLang="en-US" sz="1100" b="0" i="0" u="none" strike="noStrike" cap="none" normalizeH="0" baseline="0" dirty="0">
                <a:ln>
                  <a:noFill/>
                </a:ln>
                <a:effectLst/>
                <a:latin typeface="Arial Unicode MS"/>
              </a:rPr>
              <a:t>])</a:t>
            </a:r>
            <a:br>
              <a:rPr kumimoji="0" lang="en-US" altLang="en-US" sz="600" b="0" i="0" u="none" strike="noStrike" cap="none" normalizeH="0" baseline="0" dirty="0">
                <a:ln>
                  <a:noFill/>
                </a:ln>
                <a:effectLst/>
              </a:rPr>
            </a:br>
            <a:r>
              <a:rPr kumimoji="0" lang="en-US" altLang="en-US" sz="1800" b="1" i="0" u="none" strike="noStrike" cap="none" normalizeH="0" baseline="0" dirty="0">
                <a:ln>
                  <a:noFill/>
                </a:ln>
                <a:effectLst/>
                <a:latin typeface="Arial" panose="020B0604020202020204" pitchFamily="34" charset="0"/>
              </a:rPr>
              <a:t>Total Customers</a:t>
            </a:r>
            <a:r>
              <a:rPr kumimoji="0" lang="en-US" altLang="en-US" sz="1800" b="0" i="0" u="none" strike="noStrike" cap="none" normalizeH="0" baseline="0" dirty="0">
                <a:ln>
                  <a:noFill/>
                </a:ln>
                <a:effectLst/>
                <a:latin typeface="Arial" panose="020B0604020202020204" pitchFamily="34" charset="0"/>
              </a:rPr>
              <a:t> = </a:t>
            </a:r>
            <a:r>
              <a:rPr kumimoji="0" lang="en-US" altLang="en-US" sz="1100" b="0" i="0" u="none" strike="noStrike" cap="none" normalizeH="0" baseline="0" dirty="0">
                <a:ln>
                  <a:noFill/>
                </a:ln>
                <a:effectLst/>
                <a:latin typeface="Arial Unicode MS"/>
              </a:rPr>
              <a:t>DISTINCTCOUNT(Customers[</a:t>
            </a:r>
            <a:r>
              <a:rPr kumimoji="0" lang="en-US" altLang="en-US" sz="1100" b="0" i="0" u="none" strike="noStrike" cap="none" normalizeH="0" baseline="0" dirty="0" err="1">
                <a:ln>
                  <a:noFill/>
                </a:ln>
                <a:effectLst/>
                <a:latin typeface="Arial Unicode MS"/>
              </a:rPr>
              <a:t>CustomerID</a:t>
            </a:r>
            <a:r>
              <a:rPr kumimoji="0" lang="en-US" altLang="en-US" sz="1100" b="0" i="0" u="none" strike="noStrike" cap="none" normalizeH="0" baseline="0" dirty="0">
                <a:ln>
                  <a:noFill/>
                </a:ln>
                <a:effectLst/>
                <a:latin typeface="Arial Unicode MS"/>
              </a:rPr>
              <a:t>])</a:t>
            </a:r>
            <a:br>
              <a:rPr kumimoji="0" lang="en-US" altLang="en-US" sz="600" b="0" i="0" u="none" strike="noStrike" cap="none" normalizeH="0" baseline="0" dirty="0">
                <a:ln>
                  <a:noFill/>
                </a:ln>
                <a:effectLst/>
              </a:rPr>
            </a:br>
            <a:r>
              <a:rPr kumimoji="0" lang="en-US" altLang="en-US" sz="1800" b="1" i="0" u="none" strike="noStrike" cap="none" normalizeH="0" baseline="0" dirty="0">
                <a:ln>
                  <a:noFill/>
                </a:ln>
                <a:effectLst/>
                <a:latin typeface="Arial" panose="020B0604020202020204" pitchFamily="34" charset="0"/>
              </a:rPr>
              <a:t>Top Performer (Employee)</a:t>
            </a:r>
            <a:r>
              <a:rPr kumimoji="0" lang="en-US" altLang="en-US" sz="1800" b="0" i="0" u="none" strike="noStrike" cap="none" normalizeH="0" baseline="0" dirty="0">
                <a:ln>
                  <a:noFill/>
                </a:ln>
                <a:effectLst/>
                <a:latin typeface="Arial" panose="020B0604020202020204" pitchFamily="34" charset="0"/>
              </a:rPr>
              <a:t> =</a:t>
            </a:r>
            <a:br>
              <a:rPr kumimoji="0" lang="en-US" altLang="en-US" sz="1800" b="0" i="0" u="none" strike="noStrike" cap="none" normalizeH="0" baseline="0" dirty="0">
                <a:ln>
                  <a:noFill/>
                </a:ln>
                <a:effectLst/>
                <a:latin typeface="Arial" panose="020B0604020202020204" pitchFamily="34" charset="0"/>
              </a:rPr>
            </a:br>
            <a:r>
              <a:rPr kumimoji="0" lang="en-US" altLang="en-US" sz="1100" b="0" i="0" u="none" strike="noStrike" cap="none" normalizeH="0" baseline="0" dirty="0">
                <a:ln>
                  <a:noFill/>
                </a:ln>
                <a:effectLst/>
                <a:latin typeface="Arial Unicode MS"/>
              </a:rPr>
              <a:t>TOPN(1, SUMMARIZE(Employees, Employees[</a:t>
            </a:r>
            <a:r>
              <a:rPr kumimoji="0" lang="en-US" altLang="en-US" sz="1100" b="0" i="0" u="none" strike="noStrike" cap="none" normalizeH="0" baseline="0" dirty="0" err="1">
                <a:ln>
                  <a:noFill/>
                </a:ln>
                <a:effectLst/>
                <a:latin typeface="Arial Unicode MS"/>
              </a:rPr>
              <a:t>FullName</a:t>
            </a:r>
            <a:r>
              <a:rPr kumimoji="0" lang="en-US" altLang="en-US" sz="1100" b="0" i="0" u="none" strike="noStrike" cap="none" normalizeH="0" baseline="0" dirty="0">
                <a:ln>
                  <a:noFill/>
                </a:ln>
                <a:effectLst/>
                <a:latin typeface="Arial Unicode MS"/>
              </a:rPr>
              <a:t>], "Sales", [Total Sales]), [Total Sales], DESC)</a:t>
            </a:r>
            <a:br>
              <a:rPr kumimoji="0" lang="en-US" altLang="en-US" sz="600" b="0" i="0" u="none" strike="noStrike" cap="none" normalizeH="0" baseline="0" dirty="0">
                <a:ln>
                  <a:noFill/>
                </a:ln>
                <a:effectLst/>
              </a:rPr>
            </a:br>
            <a:r>
              <a:rPr kumimoji="0" lang="en-US" altLang="en-US" sz="1800" b="1" i="0" u="none" strike="noStrike" cap="none" normalizeH="0" baseline="0" dirty="0">
                <a:ln>
                  <a:noFill/>
                </a:ln>
                <a:effectLst/>
                <a:latin typeface="Arial" panose="020B0604020202020204" pitchFamily="34" charset="0"/>
              </a:rPr>
              <a:t>Profit Margin</a:t>
            </a:r>
            <a:r>
              <a:rPr kumimoji="0" lang="en-US" altLang="en-US" sz="1800" b="0" i="0" u="none" strike="noStrike" cap="none" normalizeH="0" baseline="0" dirty="0">
                <a:ln>
                  <a:noFill/>
                </a:ln>
                <a:effectLst/>
                <a:latin typeface="Arial" panose="020B0604020202020204" pitchFamily="34" charset="0"/>
              </a:rPr>
              <a:t> = </a:t>
            </a:r>
            <a:r>
              <a:rPr kumimoji="0" lang="en-US" altLang="en-US" sz="1100" b="0" i="0" u="none" strike="noStrike" cap="none" normalizeH="0" baseline="0" dirty="0">
                <a:ln>
                  <a:noFill/>
                </a:ln>
                <a:effectLst/>
                <a:latin typeface="Arial Unicode MS"/>
              </a:rPr>
              <a:t>([Total Sales] - [Cost]) / [Total Sales]</a:t>
            </a:r>
            <a:r>
              <a:rPr kumimoji="0" lang="en-US" altLang="en-US" sz="800" b="0" i="0" u="none" strike="noStrike" cap="none" normalizeH="0" baseline="0" dirty="0">
                <a:ln>
                  <a:noFill/>
                </a:ln>
                <a:effectLst/>
              </a:rPr>
              <a:t> </a:t>
            </a:r>
            <a:r>
              <a:rPr kumimoji="0" lang="en-US" altLang="en-US" sz="1800" b="0" i="1" u="none" strike="noStrike" cap="none" normalizeH="0" baseline="0" dirty="0">
                <a:ln>
                  <a:noFill/>
                </a:ln>
                <a:effectLst/>
                <a:latin typeface="Arial" panose="020B0604020202020204" pitchFamily="34" charset="0"/>
              </a:rPr>
              <a:t>(if cost data available)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effectLst/>
                <a:latin typeface="Arial" panose="020B0604020202020204" pitchFamily="34" charset="0"/>
              </a:rPr>
              <a:t>Purpose:</a:t>
            </a:r>
            <a:endParaRPr kumimoji="0" lang="en-US" altLang="en-US" sz="18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effectLst/>
                <a:latin typeface="Arial" panose="020B0604020202020204" pitchFamily="34" charset="0"/>
              </a:rPr>
              <a:t>Enables real-time calculations within visuals.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effectLst/>
                <a:latin typeface="Arial" panose="020B0604020202020204" pitchFamily="34" charset="0"/>
              </a:rPr>
              <a:t>Simplifies KPI monitoring and trend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effectLst/>
                <a:latin typeface="Arial" panose="020B0604020202020204" pitchFamily="34" charset="0"/>
              </a:rPr>
              <a:t>Supports performance tracking by product, customer, and employee.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150695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C1AFFCA-84D6-883F-D4CB-F2CC9CF0DC56}"/>
              </a:ext>
            </a:extLst>
          </p:cNvPr>
          <p:cNvSpPr>
            <a:spLocks noGrp="1"/>
          </p:cNvSpPr>
          <p:nvPr>
            <p:ph type="sldNum" sz="quarter" idx="11"/>
          </p:nvPr>
        </p:nvSpPr>
        <p:spPr/>
        <p:txBody>
          <a:bodyPr/>
          <a:lstStyle/>
          <a:p>
            <a:fld id="{294A09A9-5501-47C1-A89A-A340965A2BE2}" type="slidenum">
              <a:rPr lang="en-US" smtClean="0"/>
              <a:pPr/>
              <a:t>11</a:t>
            </a:fld>
            <a:endParaRPr lang="en-US" dirty="0"/>
          </a:p>
        </p:txBody>
      </p:sp>
      <p:sp>
        <p:nvSpPr>
          <p:cNvPr id="3" name="Footer Placeholder 2">
            <a:extLst>
              <a:ext uri="{FF2B5EF4-FFF2-40B4-BE49-F238E27FC236}">
                <a16:creationId xmlns:a16="http://schemas.microsoft.com/office/drawing/2014/main" id="{9E6BDE14-0D78-E13B-BAEB-4B2C3DD4E49B}"/>
              </a:ext>
            </a:extLst>
          </p:cNvPr>
          <p:cNvSpPr>
            <a:spLocks noGrp="1"/>
          </p:cNvSpPr>
          <p:nvPr>
            <p:ph type="ftr" sz="quarter" idx="10"/>
          </p:nvPr>
        </p:nvSpPr>
        <p:spPr/>
        <p:txBody>
          <a:bodyPr/>
          <a:lstStyle/>
          <a:p>
            <a:r>
              <a:rPr lang="en-US"/>
              <a:t>Crypto: investing &amp; trading</a:t>
            </a:r>
            <a:endParaRPr lang="en-US" dirty="0"/>
          </a:p>
        </p:txBody>
      </p:sp>
      <p:sp>
        <p:nvSpPr>
          <p:cNvPr id="4" name="Title 3">
            <a:extLst>
              <a:ext uri="{FF2B5EF4-FFF2-40B4-BE49-F238E27FC236}">
                <a16:creationId xmlns:a16="http://schemas.microsoft.com/office/drawing/2014/main" id="{76C6AB74-9800-1AA0-C730-B7697D9ADDBA}"/>
              </a:ext>
            </a:extLst>
          </p:cNvPr>
          <p:cNvSpPr>
            <a:spLocks noGrp="1"/>
          </p:cNvSpPr>
          <p:nvPr>
            <p:ph type="title"/>
          </p:nvPr>
        </p:nvSpPr>
        <p:spPr>
          <a:xfrm>
            <a:off x="1403915" y="187452"/>
            <a:ext cx="8878824" cy="602590"/>
          </a:xfrm>
        </p:spPr>
        <p:txBody>
          <a:bodyPr/>
          <a:lstStyle/>
          <a:p>
            <a:endParaRPr lang="en-IN"/>
          </a:p>
        </p:txBody>
      </p:sp>
      <p:sp>
        <p:nvSpPr>
          <p:cNvPr id="9" name="Content Placeholder 8">
            <a:extLst>
              <a:ext uri="{FF2B5EF4-FFF2-40B4-BE49-F238E27FC236}">
                <a16:creationId xmlns:a16="http://schemas.microsoft.com/office/drawing/2014/main" id="{E2C99E47-E721-7EBA-7640-C521F1AE04AE}"/>
              </a:ext>
            </a:extLst>
          </p:cNvPr>
          <p:cNvSpPr>
            <a:spLocks noGrp="1"/>
          </p:cNvSpPr>
          <p:nvPr>
            <p:ph idx="1"/>
          </p:nvPr>
        </p:nvSpPr>
        <p:spPr/>
        <p:txBody>
          <a:bodyPr/>
          <a:lstStyle/>
          <a:p>
            <a:endParaRPr lang="en-IN"/>
          </a:p>
        </p:txBody>
      </p:sp>
      <p:pic>
        <p:nvPicPr>
          <p:cNvPr id="11" name="Picture 10">
            <a:extLst>
              <a:ext uri="{FF2B5EF4-FFF2-40B4-BE49-F238E27FC236}">
                <a16:creationId xmlns:a16="http://schemas.microsoft.com/office/drawing/2014/main" id="{FAE5ED93-0A52-DEEF-1C29-D229D16BD23F}"/>
              </a:ext>
            </a:extLst>
          </p:cNvPr>
          <p:cNvPicPr>
            <a:picLocks noChangeAspect="1"/>
          </p:cNvPicPr>
          <p:nvPr/>
        </p:nvPicPr>
        <p:blipFill>
          <a:blip r:embed="rId2"/>
          <a:stretch>
            <a:fillRect/>
          </a:stretch>
        </p:blipFill>
        <p:spPr>
          <a:xfrm>
            <a:off x="1749" y="0"/>
            <a:ext cx="12188501" cy="6858000"/>
          </a:xfrm>
          <a:prstGeom prst="rect">
            <a:avLst/>
          </a:prstGeom>
        </p:spPr>
      </p:pic>
    </p:spTree>
    <p:extLst>
      <p:ext uri="{BB962C8B-B14F-4D97-AF65-F5344CB8AC3E}">
        <p14:creationId xmlns:p14="http://schemas.microsoft.com/office/powerpoint/2010/main" val="3322668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02226-0447-F66A-5A35-53716BA54BB0}"/>
              </a:ext>
            </a:extLst>
          </p:cNvPr>
          <p:cNvSpPr>
            <a:spLocks noGrp="1"/>
          </p:cNvSpPr>
          <p:nvPr>
            <p:ph type="title"/>
          </p:nvPr>
        </p:nvSpPr>
        <p:spPr/>
        <p:txBody>
          <a:bodyPr/>
          <a:lstStyle/>
          <a:p>
            <a:endParaRPr lang="en-IN"/>
          </a:p>
        </p:txBody>
      </p:sp>
      <p:pic>
        <p:nvPicPr>
          <p:cNvPr id="7" name="Content Placeholder 6">
            <a:extLst>
              <a:ext uri="{FF2B5EF4-FFF2-40B4-BE49-F238E27FC236}">
                <a16:creationId xmlns:a16="http://schemas.microsoft.com/office/drawing/2014/main" id="{5B43890A-083D-8F0C-7639-CD42643D0204}"/>
              </a:ext>
            </a:extLst>
          </p:cNvPr>
          <p:cNvPicPr>
            <a:picLocks noGrp="1" noChangeAspect="1"/>
          </p:cNvPicPr>
          <p:nvPr>
            <p:ph idx="1"/>
          </p:nvPr>
        </p:nvPicPr>
        <p:blipFill>
          <a:blip r:embed="rId2"/>
          <a:stretch>
            <a:fillRect/>
          </a:stretch>
        </p:blipFill>
        <p:spPr>
          <a:xfrm>
            <a:off x="1" y="0"/>
            <a:ext cx="12192000" cy="6857999"/>
          </a:xfrm>
        </p:spPr>
      </p:pic>
      <p:sp>
        <p:nvSpPr>
          <p:cNvPr id="4" name="Slide Number Placeholder 3">
            <a:extLst>
              <a:ext uri="{FF2B5EF4-FFF2-40B4-BE49-F238E27FC236}">
                <a16:creationId xmlns:a16="http://schemas.microsoft.com/office/drawing/2014/main" id="{70BC1B96-EAEC-BB51-D756-10D03288586B}"/>
              </a:ext>
            </a:extLst>
          </p:cNvPr>
          <p:cNvSpPr>
            <a:spLocks noGrp="1"/>
          </p:cNvSpPr>
          <p:nvPr>
            <p:ph type="sldNum" sz="quarter" idx="11"/>
          </p:nvPr>
        </p:nvSpPr>
        <p:spPr/>
        <p:txBody>
          <a:bodyPr/>
          <a:lstStyle/>
          <a:p>
            <a:fld id="{294A09A9-5501-47C1-A89A-A340965A2BE2}" type="slidenum">
              <a:rPr lang="en-US" smtClean="0"/>
              <a:pPr/>
              <a:t>12</a:t>
            </a:fld>
            <a:endParaRPr lang="en-US" dirty="0"/>
          </a:p>
        </p:txBody>
      </p:sp>
      <p:sp>
        <p:nvSpPr>
          <p:cNvPr id="5" name="Footer Placeholder 4">
            <a:extLst>
              <a:ext uri="{FF2B5EF4-FFF2-40B4-BE49-F238E27FC236}">
                <a16:creationId xmlns:a16="http://schemas.microsoft.com/office/drawing/2014/main" id="{E7A6EE8A-F143-02CA-ED47-A81C2F1A1B17}"/>
              </a:ext>
            </a:extLst>
          </p:cNvPr>
          <p:cNvSpPr>
            <a:spLocks noGrp="1"/>
          </p:cNvSpPr>
          <p:nvPr>
            <p:ph type="ftr" sz="quarter" idx="10"/>
          </p:nvPr>
        </p:nvSpPr>
        <p:spPr/>
        <p:txBody>
          <a:bodyPr/>
          <a:lstStyle/>
          <a:p>
            <a:endParaRPr lang="en-US" dirty="0"/>
          </a:p>
        </p:txBody>
      </p:sp>
    </p:spTree>
    <p:extLst>
      <p:ext uri="{BB962C8B-B14F-4D97-AF65-F5344CB8AC3E}">
        <p14:creationId xmlns:p14="http://schemas.microsoft.com/office/powerpoint/2010/main" val="10249179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674A0-82D6-1EBE-11BB-235F256982FB}"/>
              </a:ext>
            </a:extLst>
          </p:cNvPr>
          <p:cNvSpPr>
            <a:spLocks noGrp="1"/>
          </p:cNvSpPr>
          <p:nvPr>
            <p:ph type="title"/>
          </p:nvPr>
        </p:nvSpPr>
        <p:spPr/>
        <p:txBody>
          <a:bodyPr/>
          <a:lstStyle/>
          <a:p>
            <a:endParaRPr lang="en-IN"/>
          </a:p>
        </p:txBody>
      </p:sp>
      <p:pic>
        <p:nvPicPr>
          <p:cNvPr id="7" name="Content Placeholder 6">
            <a:extLst>
              <a:ext uri="{FF2B5EF4-FFF2-40B4-BE49-F238E27FC236}">
                <a16:creationId xmlns:a16="http://schemas.microsoft.com/office/drawing/2014/main" id="{919DD4C6-EEEC-DD08-FBB8-AC1D0A89380A}"/>
              </a:ext>
            </a:extLst>
          </p:cNvPr>
          <p:cNvPicPr>
            <a:picLocks noGrp="1" noChangeAspect="1"/>
          </p:cNvPicPr>
          <p:nvPr>
            <p:ph idx="1"/>
          </p:nvPr>
        </p:nvPicPr>
        <p:blipFill>
          <a:blip r:embed="rId2"/>
          <a:stretch>
            <a:fillRect/>
          </a:stretch>
        </p:blipFill>
        <p:spPr>
          <a:xfrm>
            <a:off x="0" y="-13645"/>
            <a:ext cx="12191999" cy="6871645"/>
          </a:xfrm>
        </p:spPr>
      </p:pic>
      <p:sp>
        <p:nvSpPr>
          <p:cNvPr id="4" name="Slide Number Placeholder 3">
            <a:extLst>
              <a:ext uri="{FF2B5EF4-FFF2-40B4-BE49-F238E27FC236}">
                <a16:creationId xmlns:a16="http://schemas.microsoft.com/office/drawing/2014/main" id="{67C01934-C3CC-46C4-6AC8-8D07A1305BBA}"/>
              </a:ext>
            </a:extLst>
          </p:cNvPr>
          <p:cNvSpPr>
            <a:spLocks noGrp="1"/>
          </p:cNvSpPr>
          <p:nvPr>
            <p:ph type="sldNum" sz="quarter" idx="11"/>
          </p:nvPr>
        </p:nvSpPr>
        <p:spPr/>
        <p:txBody>
          <a:bodyPr/>
          <a:lstStyle/>
          <a:p>
            <a:fld id="{294A09A9-5501-47C1-A89A-A340965A2BE2}" type="slidenum">
              <a:rPr lang="en-US" smtClean="0"/>
              <a:pPr/>
              <a:t>13</a:t>
            </a:fld>
            <a:endParaRPr lang="en-US" dirty="0"/>
          </a:p>
        </p:txBody>
      </p:sp>
      <p:sp>
        <p:nvSpPr>
          <p:cNvPr id="5" name="Footer Placeholder 4">
            <a:extLst>
              <a:ext uri="{FF2B5EF4-FFF2-40B4-BE49-F238E27FC236}">
                <a16:creationId xmlns:a16="http://schemas.microsoft.com/office/drawing/2014/main" id="{9C4195AC-51E8-7AFC-1E9C-C18E50058AF6}"/>
              </a:ext>
            </a:extLst>
          </p:cNvPr>
          <p:cNvSpPr>
            <a:spLocks noGrp="1"/>
          </p:cNvSpPr>
          <p:nvPr>
            <p:ph type="ftr" sz="quarter" idx="10"/>
          </p:nvPr>
        </p:nvSpPr>
        <p:spPr/>
        <p:txBody>
          <a:bodyPr/>
          <a:lstStyle/>
          <a:p>
            <a:r>
              <a:rPr lang="en-US"/>
              <a:t>Crypto: investing &amp; trading</a:t>
            </a:r>
            <a:endParaRPr lang="en-US" dirty="0"/>
          </a:p>
        </p:txBody>
      </p:sp>
    </p:spTree>
    <p:extLst>
      <p:ext uri="{BB962C8B-B14F-4D97-AF65-F5344CB8AC3E}">
        <p14:creationId xmlns:p14="http://schemas.microsoft.com/office/powerpoint/2010/main" val="24716573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8DB8-1C63-D3B5-D3DE-E7A69B686380}"/>
              </a:ext>
            </a:extLst>
          </p:cNvPr>
          <p:cNvSpPr>
            <a:spLocks noGrp="1"/>
          </p:cNvSpPr>
          <p:nvPr>
            <p:ph type="title"/>
          </p:nvPr>
        </p:nvSpPr>
        <p:spPr/>
        <p:txBody>
          <a:bodyPr/>
          <a:lstStyle/>
          <a:p>
            <a:endParaRPr lang="en-IN"/>
          </a:p>
        </p:txBody>
      </p:sp>
      <p:pic>
        <p:nvPicPr>
          <p:cNvPr id="7" name="Content Placeholder 6">
            <a:extLst>
              <a:ext uri="{FF2B5EF4-FFF2-40B4-BE49-F238E27FC236}">
                <a16:creationId xmlns:a16="http://schemas.microsoft.com/office/drawing/2014/main" id="{92287D67-5B0F-8073-C8DA-B79D1C7147BA}"/>
              </a:ext>
            </a:extLst>
          </p:cNvPr>
          <p:cNvPicPr>
            <a:picLocks noGrp="1" noChangeAspect="1"/>
          </p:cNvPicPr>
          <p:nvPr>
            <p:ph idx="1"/>
          </p:nvPr>
        </p:nvPicPr>
        <p:blipFill>
          <a:blip r:embed="rId2"/>
          <a:stretch>
            <a:fillRect/>
          </a:stretch>
        </p:blipFill>
        <p:spPr>
          <a:xfrm>
            <a:off x="-25546" y="0"/>
            <a:ext cx="12217545" cy="6858000"/>
          </a:xfrm>
        </p:spPr>
      </p:pic>
      <p:sp>
        <p:nvSpPr>
          <p:cNvPr id="4" name="Slide Number Placeholder 3">
            <a:extLst>
              <a:ext uri="{FF2B5EF4-FFF2-40B4-BE49-F238E27FC236}">
                <a16:creationId xmlns:a16="http://schemas.microsoft.com/office/drawing/2014/main" id="{1D1CF23B-C5A6-380B-F041-BAE7F2A855D4}"/>
              </a:ext>
            </a:extLst>
          </p:cNvPr>
          <p:cNvSpPr>
            <a:spLocks noGrp="1"/>
          </p:cNvSpPr>
          <p:nvPr>
            <p:ph type="sldNum" sz="quarter" idx="11"/>
          </p:nvPr>
        </p:nvSpPr>
        <p:spPr/>
        <p:txBody>
          <a:bodyPr/>
          <a:lstStyle/>
          <a:p>
            <a:fld id="{294A09A9-5501-47C1-A89A-A340965A2BE2}" type="slidenum">
              <a:rPr lang="en-US" smtClean="0"/>
              <a:pPr/>
              <a:t>14</a:t>
            </a:fld>
            <a:endParaRPr lang="en-US" dirty="0"/>
          </a:p>
        </p:txBody>
      </p:sp>
      <p:sp>
        <p:nvSpPr>
          <p:cNvPr id="5" name="Footer Placeholder 4">
            <a:extLst>
              <a:ext uri="{FF2B5EF4-FFF2-40B4-BE49-F238E27FC236}">
                <a16:creationId xmlns:a16="http://schemas.microsoft.com/office/drawing/2014/main" id="{5E3A01EC-F54C-E501-045E-8140ED628A7D}"/>
              </a:ext>
            </a:extLst>
          </p:cNvPr>
          <p:cNvSpPr>
            <a:spLocks noGrp="1"/>
          </p:cNvSpPr>
          <p:nvPr>
            <p:ph type="ftr" sz="quarter" idx="10"/>
          </p:nvPr>
        </p:nvSpPr>
        <p:spPr/>
        <p:txBody>
          <a:bodyPr/>
          <a:lstStyle/>
          <a:p>
            <a:r>
              <a:rPr lang="en-US"/>
              <a:t>Crypto: investing &amp; trading</a:t>
            </a:r>
            <a:endParaRPr lang="en-US" dirty="0"/>
          </a:p>
        </p:txBody>
      </p:sp>
    </p:spTree>
    <p:extLst>
      <p:ext uri="{BB962C8B-B14F-4D97-AF65-F5344CB8AC3E}">
        <p14:creationId xmlns:p14="http://schemas.microsoft.com/office/powerpoint/2010/main" val="6818972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08595-9EB8-823F-7A8E-1EF6B1993471}"/>
              </a:ext>
            </a:extLst>
          </p:cNvPr>
          <p:cNvSpPr>
            <a:spLocks noGrp="1"/>
          </p:cNvSpPr>
          <p:nvPr>
            <p:ph type="title"/>
          </p:nvPr>
        </p:nvSpPr>
        <p:spPr/>
        <p:txBody>
          <a:bodyPr/>
          <a:lstStyle/>
          <a:p>
            <a:endParaRPr lang="en-IN"/>
          </a:p>
        </p:txBody>
      </p:sp>
      <p:pic>
        <p:nvPicPr>
          <p:cNvPr id="7" name="Content Placeholder 6">
            <a:extLst>
              <a:ext uri="{FF2B5EF4-FFF2-40B4-BE49-F238E27FC236}">
                <a16:creationId xmlns:a16="http://schemas.microsoft.com/office/drawing/2014/main" id="{B31A1C1D-874C-CD32-E735-F4F017780521}"/>
              </a:ext>
            </a:extLst>
          </p:cNvPr>
          <p:cNvPicPr>
            <a:picLocks noGrp="1" noChangeAspect="1"/>
          </p:cNvPicPr>
          <p:nvPr>
            <p:ph idx="1"/>
          </p:nvPr>
        </p:nvPicPr>
        <p:blipFill>
          <a:blip r:embed="rId2"/>
          <a:stretch>
            <a:fillRect/>
          </a:stretch>
        </p:blipFill>
        <p:spPr>
          <a:xfrm>
            <a:off x="25496" y="1"/>
            <a:ext cx="12166504" cy="6858000"/>
          </a:xfrm>
        </p:spPr>
      </p:pic>
      <p:sp>
        <p:nvSpPr>
          <p:cNvPr id="4" name="Slide Number Placeholder 3">
            <a:extLst>
              <a:ext uri="{FF2B5EF4-FFF2-40B4-BE49-F238E27FC236}">
                <a16:creationId xmlns:a16="http://schemas.microsoft.com/office/drawing/2014/main" id="{2F039485-2FB7-1274-244A-497ED91CCF01}"/>
              </a:ext>
            </a:extLst>
          </p:cNvPr>
          <p:cNvSpPr>
            <a:spLocks noGrp="1"/>
          </p:cNvSpPr>
          <p:nvPr>
            <p:ph type="sldNum" sz="quarter" idx="11"/>
          </p:nvPr>
        </p:nvSpPr>
        <p:spPr/>
        <p:txBody>
          <a:bodyPr/>
          <a:lstStyle/>
          <a:p>
            <a:fld id="{294A09A9-5501-47C1-A89A-A340965A2BE2}" type="slidenum">
              <a:rPr lang="en-US" smtClean="0"/>
              <a:pPr/>
              <a:t>15</a:t>
            </a:fld>
            <a:endParaRPr lang="en-US" dirty="0"/>
          </a:p>
        </p:txBody>
      </p:sp>
      <p:sp>
        <p:nvSpPr>
          <p:cNvPr id="5" name="Footer Placeholder 4">
            <a:extLst>
              <a:ext uri="{FF2B5EF4-FFF2-40B4-BE49-F238E27FC236}">
                <a16:creationId xmlns:a16="http://schemas.microsoft.com/office/drawing/2014/main" id="{F2DA8833-BE76-105A-C071-E25D4AC4DADB}"/>
              </a:ext>
            </a:extLst>
          </p:cNvPr>
          <p:cNvSpPr>
            <a:spLocks noGrp="1"/>
          </p:cNvSpPr>
          <p:nvPr>
            <p:ph type="ftr" sz="quarter" idx="10"/>
          </p:nvPr>
        </p:nvSpPr>
        <p:spPr/>
        <p:txBody>
          <a:bodyPr/>
          <a:lstStyle/>
          <a:p>
            <a:r>
              <a:rPr lang="en-US"/>
              <a:t>Crypto: investing &amp; trading</a:t>
            </a:r>
            <a:endParaRPr lang="en-US" dirty="0"/>
          </a:p>
        </p:txBody>
      </p:sp>
    </p:spTree>
    <p:extLst>
      <p:ext uri="{BB962C8B-B14F-4D97-AF65-F5344CB8AC3E}">
        <p14:creationId xmlns:p14="http://schemas.microsoft.com/office/powerpoint/2010/main" val="19561398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36B1E99-7426-52CD-2CE1-E2F0AB590CCE}"/>
              </a:ext>
            </a:extLst>
          </p:cNvPr>
          <p:cNvSpPr>
            <a:spLocks noGrp="1"/>
          </p:cNvSpPr>
          <p:nvPr>
            <p:ph type="sldNum" sz="quarter" idx="11"/>
          </p:nvPr>
        </p:nvSpPr>
        <p:spPr/>
        <p:txBody>
          <a:bodyPr/>
          <a:lstStyle/>
          <a:p>
            <a:fld id="{294A09A9-5501-47C1-A89A-A340965A2BE2}" type="slidenum">
              <a:rPr lang="en-US" smtClean="0"/>
              <a:pPr/>
              <a:t>16</a:t>
            </a:fld>
            <a:endParaRPr lang="en-US" dirty="0"/>
          </a:p>
        </p:txBody>
      </p:sp>
      <p:sp>
        <p:nvSpPr>
          <p:cNvPr id="3" name="Footer Placeholder 2">
            <a:extLst>
              <a:ext uri="{FF2B5EF4-FFF2-40B4-BE49-F238E27FC236}">
                <a16:creationId xmlns:a16="http://schemas.microsoft.com/office/drawing/2014/main" id="{B63F1D4C-D015-C4AC-D28D-821D690BD93B}"/>
              </a:ext>
            </a:extLst>
          </p:cNvPr>
          <p:cNvSpPr>
            <a:spLocks noGrp="1"/>
          </p:cNvSpPr>
          <p:nvPr>
            <p:ph type="ftr" sz="quarter" idx="10"/>
          </p:nvPr>
        </p:nvSpPr>
        <p:spPr/>
        <p:txBody>
          <a:bodyPr/>
          <a:lstStyle/>
          <a:p>
            <a:r>
              <a:rPr lang="en-US" dirty="0"/>
              <a:t>Northwind Traders</a:t>
            </a:r>
          </a:p>
        </p:txBody>
      </p:sp>
      <p:sp>
        <p:nvSpPr>
          <p:cNvPr id="4" name="Title 3">
            <a:extLst>
              <a:ext uri="{FF2B5EF4-FFF2-40B4-BE49-F238E27FC236}">
                <a16:creationId xmlns:a16="http://schemas.microsoft.com/office/drawing/2014/main" id="{23860415-A5E4-9A5E-C898-D088A276776C}"/>
              </a:ext>
            </a:extLst>
          </p:cNvPr>
          <p:cNvSpPr>
            <a:spLocks noGrp="1"/>
          </p:cNvSpPr>
          <p:nvPr>
            <p:ph type="title"/>
          </p:nvPr>
        </p:nvSpPr>
        <p:spPr/>
        <p:txBody>
          <a:bodyPr/>
          <a:lstStyle/>
          <a:p>
            <a:r>
              <a:rPr lang="en-US" dirty="0"/>
              <a:t>Key </a:t>
            </a:r>
            <a:r>
              <a:rPr lang="en-US" dirty="0" err="1"/>
              <a:t>insigths</a:t>
            </a:r>
            <a:endParaRPr lang="en-IN" dirty="0"/>
          </a:p>
        </p:txBody>
      </p:sp>
      <p:sp>
        <p:nvSpPr>
          <p:cNvPr id="5" name="Content Placeholder 4">
            <a:extLst>
              <a:ext uri="{FF2B5EF4-FFF2-40B4-BE49-F238E27FC236}">
                <a16:creationId xmlns:a16="http://schemas.microsoft.com/office/drawing/2014/main" id="{4E4A6E48-405B-C5DA-D534-62DF3E305538}"/>
              </a:ext>
            </a:extLst>
          </p:cNvPr>
          <p:cNvSpPr>
            <a:spLocks noGrp="1"/>
          </p:cNvSpPr>
          <p:nvPr>
            <p:ph idx="1"/>
          </p:nvPr>
        </p:nvSpPr>
        <p:spPr>
          <a:xfrm>
            <a:off x="1536192" y="2212848"/>
            <a:ext cx="8595360" cy="3813048"/>
          </a:xfrm>
        </p:spPr>
        <p:txBody>
          <a:bodyPr/>
          <a:lstStyle/>
          <a:p>
            <a:r>
              <a:rPr lang="en-US" dirty="0"/>
              <a:t>The USA and Germany generate the highest sales revenue.</a:t>
            </a:r>
          </a:p>
          <a:p>
            <a:r>
              <a:rPr lang="en-US" dirty="0"/>
              <a:t>Beverages and Condiments are the best-selling product categories.</a:t>
            </a:r>
          </a:p>
          <a:p>
            <a:r>
              <a:rPr lang="en-US" dirty="0"/>
              <a:t>Senior employees show higher average sales performance.</a:t>
            </a:r>
          </a:p>
          <a:p>
            <a:r>
              <a:rPr lang="en-US" dirty="0"/>
              <a:t>Order volume peaks in the last quarter of each year.</a:t>
            </a:r>
          </a:p>
          <a:p>
            <a:r>
              <a:rPr lang="en-US" dirty="0"/>
              <a:t>Loyal customers contribute significantly to total revenue.</a:t>
            </a:r>
          </a:p>
          <a:p>
            <a:endParaRPr lang="en-IN" dirty="0"/>
          </a:p>
        </p:txBody>
      </p:sp>
    </p:spTree>
    <p:extLst>
      <p:ext uri="{BB962C8B-B14F-4D97-AF65-F5344CB8AC3E}">
        <p14:creationId xmlns:p14="http://schemas.microsoft.com/office/powerpoint/2010/main" val="34232409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15515-B115-2EFE-6AC4-D17B29540D99}"/>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DD155967-66E7-0232-CBE5-F9DD2D2CE61A}"/>
              </a:ext>
            </a:extLst>
          </p:cNvPr>
          <p:cNvSpPr>
            <a:spLocks noGrp="1"/>
          </p:cNvSpPr>
          <p:nvPr>
            <p:ph idx="1"/>
          </p:nvPr>
        </p:nvSpPr>
        <p:spPr>
          <a:xfrm>
            <a:off x="1014984" y="2212848"/>
            <a:ext cx="9782251" cy="3463747"/>
          </a:xfrm>
        </p:spPr>
        <p:txBody>
          <a:bodyPr/>
          <a:lstStyle/>
          <a:p>
            <a:r>
              <a:rPr lang="en-US" dirty="0"/>
              <a:t>The Sales Performance Dashboard delivers comprehensive insights into business operations. It enables stakeholders to track KPIs, evaluate employee productivity, identify top-performing products, and understand customer behavior. Power BI provides an interactive and effective platform for strategic decision-making.</a:t>
            </a:r>
          </a:p>
        </p:txBody>
      </p:sp>
      <p:sp>
        <p:nvSpPr>
          <p:cNvPr id="4" name="Slide Number Placeholder 3">
            <a:extLst>
              <a:ext uri="{FF2B5EF4-FFF2-40B4-BE49-F238E27FC236}">
                <a16:creationId xmlns:a16="http://schemas.microsoft.com/office/drawing/2014/main" id="{E36D765F-A417-C631-76EA-FDFF4CFA4F4F}"/>
              </a:ext>
            </a:extLst>
          </p:cNvPr>
          <p:cNvSpPr>
            <a:spLocks noGrp="1"/>
          </p:cNvSpPr>
          <p:nvPr>
            <p:ph type="sldNum" sz="quarter" idx="11"/>
          </p:nvPr>
        </p:nvSpPr>
        <p:spPr/>
        <p:txBody>
          <a:bodyPr/>
          <a:lstStyle/>
          <a:p>
            <a:fld id="{294A09A9-5501-47C1-A89A-A340965A2BE2}" type="slidenum">
              <a:rPr lang="en-US" smtClean="0"/>
              <a:pPr/>
              <a:t>17</a:t>
            </a:fld>
            <a:endParaRPr lang="en-US" dirty="0"/>
          </a:p>
        </p:txBody>
      </p:sp>
      <p:sp>
        <p:nvSpPr>
          <p:cNvPr id="5" name="Footer Placeholder 4">
            <a:extLst>
              <a:ext uri="{FF2B5EF4-FFF2-40B4-BE49-F238E27FC236}">
                <a16:creationId xmlns:a16="http://schemas.microsoft.com/office/drawing/2014/main" id="{A12488F0-8DAC-9D88-B2E1-6918AF76158F}"/>
              </a:ext>
            </a:extLst>
          </p:cNvPr>
          <p:cNvSpPr>
            <a:spLocks noGrp="1"/>
          </p:cNvSpPr>
          <p:nvPr>
            <p:ph type="ftr" sz="quarter" idx="10"/>
          </p:nvPr>
        </p:nvSpPr>
        <p:spPr/>
        <p:txBody>
          <a:bodyPr/>
          <a:lstStyle/>
          <a:p>
            <a:r>
              <a:rPr lang="en-US" dirty="0"/>
              <a:t>Northwind Traders</a:t>
            </a:r>
          </a:p>
        </p:txBody>
      </p:sp>
    </p:spTree>
    <p:extLst>
      <p:ext uri="{BB962C8B-B14F-4D97-AF65-F5344CB8AC3E}">
        <p14:creationId xmlns:p14="http://schemas.microsoft.com/office/powerpoint/2010/main" val="40382532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112C0B6-59AF-A8CE-3806-430CDC13C996}"/>
              </a:ext>
            </a:extLst>
          </p:cNvPr>
          <p:cNvSpPr>
            <a:spLocks noGrp="1"/>
          </p:cNvSpPr>
          <p:nvPr>
            <p:ph type="sldNum" sz="quarter" idx="11"/>
          </p:nvPr>
        </p:nvSpPr>
        <p:spPr/>
        <p:txBody>
          <a:bodyPr/>
          <a:lstStyle/>
          <a:p>
            <a:fld id="{294A09A9-5501-47C1-A89A-A340965A2BE2}" type="slidenum">
              <a:rPr lang="en-US" smtClean="0"/>
              <a:pPr/>
              <a:t>18</a:t>
            </a:fld>
            <a:endParaRPr lang="en-US" dirty="0"/>
          </a:p>
        </p:txBody>
      </p:sp>
      <p:sp>
        <p:nvSpPr>
          <p:cNvPr id="3" name="Footer Placeholder 2">
            <a:extLst>
              <a:ext uri="{FF2B5EF4-FFF2-40B4-BE49-F238E27FC236}">
                <a16:creationId xmlns:a16="http://schemas.microsoft.com/office/drawing/2014/main" id="{12EAC2D5-6666-24E3-D2B4-4CC1D7077D99}"/>
              </a:ext>
            </a:extLst>
          </p:cNvPr>
          <p:cNvSpPr>
            <a:spLocks noGrp="1"/>
          </p:cNvSpPr>
          <p:nvPr>
            <p:ph type="ftr" sz="quarter" idx="10"/>
          </p:nvPr>
        </p:nvSpPr>
        <p:spPr/>
        <p:txBody>
          <a:bodyPr/>
          <a:lstStyle/>
          <a:p>
            <a:r>
              <a:rPr lang="en-US" dirty="0"/>
              <a:t>Northwind Traders</a:t>
            </a:r>
          </a:p>
        </p:txBody>
      </p:sp>
      <p:sp>
        <p:nvSpPr>
          <p:cNvPr id="4" name="Title 3">
            <a:extLst>
              <a:ext uri="{FF2B5EF4-FFF2-40B4-BE49-F238E27FC236}">
                <a16:creationId xmlns:a16="http://schemas.microsoft.com/office/drawing/2014/main" id="{7AD51C12-BD31-CFF5-9955-632B41655E13}"/>
              </a:ext>
            </a:extLst>
          </p:cNvPr>
          <p:cNvSpPr>
            <a:spLocks noGrp="1"/>
          </p:cNvSpPr>
          <p:nvPr>
            <p:ph type="title"/>
          </p:nvPr>
        </p:nvSpPr>
        <p:spPr/>
        <p:txBody>
          <a:bodyPr/>
          <a:lstStyle/>
          <a:p>
            <a:r>
              <a:rPr lang="en-US" dirty="0"/>
              <a:t>Future enhancements</a:t>
            </a:r>
            <a:endParaRPr lang="en-IN" dirty="0"/>
          </a:p>
        </p:txBody>
      </p:sp>
      <p:sp>
        <p:nvSpPr>
          <p:cNvPr id="5" name="Content Placeholder 4">
            <a:extLst>
              <a:ext uri="{FF2B5EF4-FFF2-40B4-BE49-F238E27FC236}">
                <a16:creationId xmlns:a16="http://schemas.microsoft.com/office/drawing/2014/main" id="{2BA00BC4-C9A3-2B38-516F-50580419AAF1}"/>
              </a:ext>
            </a:extLst>
          </p:cNvPr>
          <p:cNvSpPr>
            <a:spLocks noGrp="1"/>
          </p:cNvSpPr>
          <p:nvPr>
            <p:ph idx="1"/>
          </p:nvPr>
        </p:nvSpPr>
        <p:spPr/>
        <p:txBody>
          <a:bodyPr/>
          <a:lstStyle/>
          <a:p>
            <a:r>
              <a:rPr lang="en-US" dirty="0"/>
              <a:t>• Integrate real-time sales data.</a:t>
            </a:r>
          </a:p>
          <a:p>
            <a:r>
              <a:rPr lang="en-US" dirty="0"/>
              <a:t>• Add forecasting and predictive analytics.</a:t>
            </a:r>
          </a:p>
          <a:p>
            <a:r>
              <a:rPr lang="en-US" dirty="0"/>
              <a:t>• Automate report refresh and scheduling.</a:t>
            </a:r>
          </a:p>
          <a:p>
            <a:r>
              <a:rPr lang="en-US" dirty="0"/>
              <a:t>• Expand analysis to include inventory and supplier data.</a:t>
            </a:r>
          </a:p>
          <a:p>
            <a:pPr marL="0" indent="0">
              <a:buNone/>
            </a:pPr>
            <a:endParaRPr lang="en-IN" dirty="0"/>
          </a:p>
        </p:txBody>
      </p:sp>
    </p:spTree>
    <p:extLst>
      <p:ext uri="{BB962C8B-B14F-4D97-AF65-F5344CB8AC3E}">
        <p14:creationId xmlns:p14="http://schemas.microsoft.com/office/powerpoint/2010/main" val="22324001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E1892-81E6-551C-7B5A-DEA68224520B}"/>
              </a:ext>
            </a:extLst>
          </p:cNvPr>
          <p:cNvSpPr>
            <a:spLocks noGrp="1"/>
          </p:cNvSpPr>
          <p:nvPr>
            <p:ph type="title"/>
          </p:nvPr>
        </p:nvSpPr>
        <p:spPr>
          <a:xfrm>
            <a:off x="5457139" y="2112265"/>
            <a:ext cx="4718304" cy="1069848"/>
          </a:xfrm>
        </p:spPr>
        <p:txBody>
          <a:bodyPr/>
          <a:lstStyle/>
          <a:p>
            <a:r>
              <a:rPr lang="en-US" sz="4800" b="1" spc="600" dirty="0">
                <a:ln w="28575">
                  <a:noFill/>
                  <a:prstDash val="solid"/>
                </a:ln>
                <a:solidFill>
                  <a:schemeClr val="bg1"/>
                </a:solidFill>
                <a:latin typeface="Tw Cen MT" panose="020B0602020104020603" pitchFamily="34" charset="77"/>
              </a:rPr>
              <a:t>THANK YOU</a:t>
            </a:r>
            <a:endParaRPr lang="en-US" dirty="0"/>
          </a:p>
        </p:txBody>
      </p:sp>
      <p:sp>
        <p:nvSpPr>
          <p:cNvPr id="3" name="Text Placeholder 2">
            <a:extLst>
              <a:ext uri="{FF2B5EF4-FFF2-40B4-BE49-F238E27FC236}">
                <a16:creationId xmlns:a16="http://schemas.microsoft.com/office/drawing/2014/main" id="{55519D01-29BE-BE76-41C5-9D58AD8119DC}"/>
              </a:ext>
            </a:extLst>
          </p:cNvPr>
          <p:cNvSpPr>
            <a:spLocks noGrp="1"/>
          </p:cNvSpPr>
          <p:nvPr>
            <p:ph type="body" idx="1"/>
          </p:nvPr>
        </p:nvSpPr>
        <p:spPr>
          <a:xfrm>
            <a:off x="5457139" y="3374136"/>
            <a:ext cx="7037223" cy="2395728"/>
          </a:xfrm>
        </p:spPr>
        <p:txBody>
          <a:bodyPr/>
          <a:lstStyle/>
          <a:p>
            <a:r>
              <a:rPr lang="en-IN" b="1" dirty="0"/>
              <a:t>Chawhan Bhoomika</a:t>
            </a:r>
            <a:br>
              <a:rPr lang="en-IN" dirty="0"/>
            </a:br>
            <a:r>
              <a:rPr lang="en-IN" sz="1800" dirty="0"/>
              <a:t>🎓 </a:t>
            </a:r>
            <a:r>
              <a:rPr lang="en-IN" sz="1800" i="1" dirty="0"/>
              <a:t>BCA / Data Analytics Student</a:t>
            </a:r>
            <a:br>
              <a:rPr lang="en-IN" sz="1800" dirty="0"/>
            </a:br>
            <a:r>
              <a:rPr lang="en-IN" sz="1800" dirty="0"/>
              <a:t>💼 </a:t>
            </a:r>
            <a:r>
              <a:rPr lang="en-IN" sz="1800" i="1" dirty="0"/>
              <a:t>Passionate about Business Intelligence and Data Visualization</a:t>
            </a:r>
            <a:br>
              <a:rPr lang="en-IN" sz="1800" dirty="0"/>
            </a:br>
            <a:r>
              <a:rPr lang="en-IN" sz="1800" dirty="0"/>
              <a:t>📧 bhoomikachawhan07@gmail.com</a:t>
            </a:r>
            <a:br>
              <a:rPr lang="en-IN" sz="1800" dirty="0"/>
            </a:br>
            <a:r>
              <a:rPr lang="en-IN" sz="1800" dirty="0"/>
              <a:t>🌐 </a:t>
            </a:r>
            <a:r>
              <a:rPr lang="en-IN" sz="1800" dirty="0">
                <a:hlinkClick r:id="rId2"/>
              </a:rPr>
              <a:t>LinkedIn Profile</a:t>
            </a:r>
            <a:endParaRPr lang="en-US" dirty="0"/>
          </a:p>
        </p:txBody>
      </p:sp>
    </p:spTree>
    <p:extLst>
      <p:ext uri="{BB962C8B-B14F-4D97-AF65-F5344CB8AC3E}">
        <p14:creationId xmlns:p14="http://schemas.microsoft.com/office/powerpoint/2010/main" val="1877701230"/>
      </p:ext>
    </p:extLst>
  </p:cSld>
  <p:clrMapOvr>
    <a:masterClrMapping/>
  </p:clrMapOvr>
</p:sld>
</file>

<file path=ppt/theme/theme1.xml><?xml version="1.0" encoding="utf-8"?>
<a:theme xmlns:a="http://schemas.openxmlformats.org/drawingml/2006/main" name="Office Theme">
  <a:themeElements>
    <a:clrScheme name="Custom 43">
      <a:dk1>
        <a:srgbClr val="000000"/>
      </a:dk1>
      <a:lt1>
        <a:srgbClr val="FFFFFF"/>
      </a:lt1>
      <a:dk2>
        <a:srgbClr val="64DFED"/>
      </a:dk2>
      <a:lt2>
        <a:srgbClr val="E7E6E6"/>
      </a:lt2>
      <a:accent1>
        <a:srgbClr val="92CDF0"/>
      </a:accent1>
      <a:accent2>
        <a:srgbClr val="92CDF0"/>
      </a:accent2>
      <a:accent3>
        <a:srgbClr val="ABC3F0"/>
      </a:accent3>
      <a:accent4>
        <a:srgbClr val="C3B9F2"/>
      </a:accent4>
      <a:accent5>
        <a:srgbClr val="AAA5F9"/>
      </a:accent5>
      <a:accent6>
        <a:srgbClr val="F6A6F4"/>
      </a:accent6>
      <a:hlink>
        <a:srgbClr val="0563C1"/>
      </a:hlink>
      <a:folHlink>
        <a:srgbClr val="954F72"/>
      </a:folHlink>
    </a:clrScheme>
    <a:fontScheme name="Custom 39">
      <a:majorFont>
        <a:latin typeface="Tw Cen MT"/>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nancial-design_Win32_CP_v13" id="{7A406372-3134-432A-A498-73868680C33B}" vid="{88D369DF-875A-4C31-AFF3-DEF6B94343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5" ma:contentTypeDescription="Create a new document." ma:contentTypeScope="" ma:versionID="e02306daf00165b375dc6a58966960b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df88fb76bf5f555224557953949c1ec9"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8B8ECF1-2A9D-464C-AFE8-2B3295D0BF9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76493A3-2B83-4E58-86AD-56A2F2A20F1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F1F1912-3146-44AF-A389-9E8B77BB3688}">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Financial design</Template>
  <TotalTime>459</TotalTime>
  <Words>1120</Words>
  <Application>Microsoft Office PowerPoint</Application>
  <PresentationFormat>Widescreen</PresentationFormat>
  <Paragraphs>113</Paragraphs>
  <Slides>19</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Arial Unicode MS</vt:lpstr>
      <vt:lpstr>Calibri</vt:lpstr>
      <vt:lpstr>Courier New</vt:lpstr>
      <vt:lpstr>Segoe UI Light</vt:lpstr>
      <vt:lpstr>Tw Cen MT</vt:lpstr>
      <vt:lpstr>Office Theme</vt:lpstr>
      <vt:lpstr>CAPSTONE PROJECT- Northwind traders sales analysis</vt:lpstr>
      <vt:lpstr>INTRODUCTION</vt:lpstr>
      <vt:lpstr>Project Objectives</vt:lpstr>
      <vt:lpstr> Dataset Description – Northwind Trader </vt:lpstr>
      <vt:lpstr>Table Explanation </vt:lpstr>
      <vt:lpstr>Tools and Technologies</vt:lpstr>
      <vt:lpstr>Data connection-power bi</vt:lpstr>
      <vt:lpstr>Data Model Overview</vt:lpstr>
      <vt:lpstr>Dashboard Design and Layout</vt:lpstr>
      <vt:lpstr>DAX Measures and KPIs</vt:lpstr>
      <vt:lpstr>PowerPoint Presentation</vt:lpstr>
      <vt:lpstr>PowerPoint Presentation</vt:lpstr>
      <vt:lpstr>PowerPoint Presentation</vt:lpstr>
      <vt:lpstr>PowerPoint Presentation</vt:lpstr>
      <vt:lpstr>PowerPoint Presentation</vt:lpstr>
      <vt:lpstr>Key insigths</vt:lpstr>
      <vt:lpstr>Conclusion</vt:lpstr>
      <vt:lpstr>Future enhancements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SNEHA BHOOMIKA</dc:creator>
  <cp:lastModifiedBy>SNEHA BHOOMIKA</cp:lastModifiedBy>
  <cp:revision>3</cp:revision>
  <dcterms:created xsi:type="dcterms:W3CDTF">2025-11-13T11:51:49Z</dcterms:created>
  <dcterms:modified xsi:type="dcterms:W3CDTF">2025-11-14T06:59:43Z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